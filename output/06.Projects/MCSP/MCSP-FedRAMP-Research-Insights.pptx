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50"/>
  </p:notesMasterIdLst>
  <p:handoutMasterIdLst>
    <p:handoutMasterId r:id="rId51"/>
  </p:handoutMasterIdLst>
  <p:sldIdLst>
    <p:sldId id="402" r:id="rId4"/>
    <p:sldId id="425" r:id="rId25"/>
    <p:sldId id="422" r:id="rId37"/>
    <p:sldId id="404" r:id="rId6"/>
    <p:sldId id="543" r:id="rId58"/>
    <p:sldId id="408" r:id="rId8"/>
    <p:sldId id="407" r:id="rId10"/>
    <p:sldId id="544" r:id="rId59"/>
    <p:sldId id="405" r:id="rId7"/>
    <p:sldId id="475" r:id="rId12"/>
    <p:sldId id="421" r:id="rId35"/>
    <p:sldId id="545" r:id="rId60"/>
    <p:sldId id="437" r:id="rId47"/>
    <p:sldId id="546" r:id="rId61"/>
    <p:sldId id="547" r:id="rId62"/>
    <p:sldId id="417" r:id="rId18"/>
    <p:sldId id="548" r:id="rId63"/>
    <p:sldId id="472" r:id="rId48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slides" id="{4700659D-582D-3B47-8AF6-59C9324AA29A}">
          <p14:sldIdLst>
            <p14:sldId id="473"/>
            <p14:sldId id="474"/>
            <p14:sldId id="402"/>
            <p14:sldId id="403"/>
            <p14:sldId id="404"/>
            <p14:sldId id="405"/>
            <p14:sldId id="408"/>
            <p14:sldId id="406"/>
            <p14:sldId id="407"/>
            <p14:sldId id="410"/>
            <p14:sldId id="475"/>
            <p14:sldId id="507"/>
            <p14:sldId id="413"/>
            <p14:sldId id="535"/>
            <p14:sldId id="415"/>
            <p14:sldId id="440"/>
            <p14:sldId id="417"/>
            <p14:sldId id="427"/>
            <p14:sldId id="542"/>
            <p14:sldId id="418"/>
            <p14:sldId id="508"/>
            <p14:sldId id="428"/>
            <p14:sldId id="426"/>
            <p14:sldId id="425"/>
            <p14:sldId id="509"/>
            <p14:sldId id="419"/>
            <p14:sldId id="414"/>
            <p14:sldId id="420"/>
            <p14:sldId id="511"/>
            <p14:sldId id="482"/>
            <p14:sldId id="512"/>
            <p14:sldId id="484"/>
            <p14:sldId id="513"/>
            <p14:sldId id="421"/>
            <p14:sldId id="514"/>
            <p14:sldId id="422"/>
            <p14:sldId id="515"/>
            <p14:sldId id="540"/>
            <p14:sldId id="541"/>
            <p14:sldId id="470"/>
            <p14:sldId id="441"/>
            <p14:sldId id="471"/>
            <p14:sldId id="433"/>
            <p14:sldId id="536"/>
            <p14:sldId id="469"/>
            <p14:sldId id="437"/>
            <p14:sldId id="472"/>
            <p14:sldId id="4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7240C83-B322-10D6-062F-819233246F17}" name="Diana Stanciulescu" initials="DS" userId="S::diana.stanciulescu@ro.ibm.com::8457c4d8-b183-4fb8-9506-2337bdfae6b8" providerId="AD"/>
  <p188:author id="{471F5894-9527-7E5F-AE6F-3881B44FA2B8}" name="Gabriel Barbu" initials="" userId="S::gabriel.barbu@ibm.com::3d0c1c4c-23d9-4258-9226-f99453c12930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8"/>
    <p:restoredTop sz="76163"/>
  </p:normalViewPr>
  <p:slideViewPr>
    <p:cSldViewPr snapToGrid="0" snapToObjects="1">
      <p:cViewPr varScale="1">
        <p:scale>
          <a:sx n="56" d="100"/>
          <a:sy n="56" d="100"/>
        </p:scale>
        <p:origin x="2120" y="216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20" d="100"/>
        <a:sy n="1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8" Type="http://schemas.openxmlformats.org/officeDocument/2006/relationships/slide" Target="slides/slide17.xml"/><Relationship Id="rId25" Type="http://schemas.openxmlformats.org/officeDocument/2006/relationships/slide" Target="slides/slide24.xml"/><Relationship Id="rId35" Type="http://schemas.openxmlformats.org/officeDocument/2006/relationships/slide" Target="slides/slide34.xml"/><Relationship Id="rId37" Type="http://schemas.openxmlformats.org/officeDocument/2006/relationships/slide" Target="slides/slide36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commentAuthors" Target="commentAuthors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8/10/relationships/authors" Target="authors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2088" y="228600"/>
            <a:ext cx="6473825" cy="36417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Sessions 1–2 synthesis | june 2026 | benjamin howard</a:t>
            </a:r>
          </a:p>
          <a:p>
            <a:r>
              <a:t>• Sessions 1–2 synthesis | june 2026 | benjamin howard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75914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What this deck covers</a:t>
            </a:r>
          </a:p>
          <a:p>
            <a:r>
              <a:t>• Study context and methodology</a:t>
            </a:r>
          </a:p>
          <a:p>
            <a:r>
              <a:t>• The strategic reframe</a:t>
            </a:r>
          </a:p>
          <a:p>
            <a:r>
              <a:t>• Usage patterns and scale</a:t>
            </a:r>
          </a:p>
          <a:p>
            <a:r>
              <a:t>• D1–D5 best-available evidence</a:t>
            </a:r>
          </a:p>
          <a:p>
            <a:r>
              <a:t>• What we know vs. what needs telemetry</a:t>
            </a:r>
          </a:p>
          <a:p>
            <a:r>
              <a:t>• Recommendations and next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23346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Usage patterns and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Limits weren't the finding — adoption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22138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“More than anything else — will it perform enough, what architecture should we deploy — I would focus on customer interviews to determine what onboarding workflows are best for them. If your onboarding workflow sucks, no one will ever join your service.”</a:t>
            </a:r>
          </a:p>
          <a:p>
            <a:r>
              <a:t>• Luke McCleary, SE — largest federal renewal base, ~$6M ARR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3160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What federal Vault deployments actually look like</a:t>
            </a:r>
          </a:p>
          <a:p>
            <a:r>
              <a:t>• 3–15</a:t>
            </a:r>
          </a:p>
          <a:p>
            <a:r>
              <a:t>• 100s–1,000s</a:t>
            </a:r>
          </a:p>
          <a:p>
            <a:r>
              <a:t>• 100–3,000</a:t>
            </a:r>
          </a:p>
          <a:p>
            <a:r>
              <a:t>• Human users per deployment — low because federal agencies front vault with existing IdM/SSO and call it via API; humans rarely log in directly</a:t>
            </a:r>
          </a:p>
          <a:p>
            <a:r>
              <a:t>• Machine/app identities per deployment — typical 300–500, scaling to thousands during mission events; ~10–20:1 apps-to-human ratio</a:t>
            </a:r>
          </a:p>
          <a:p>
            <a:r>
              <a:t>• Client license range at launch — most accounts start at 100–200, grow to ~1,000 at typical large scale; 10,000+ is rare</a:t>
            </a:r>
          </a:p>
          <a:p>
            <a:r>
              <a:t>• ('Source: sessions #1 and #2, internal SE/SA interviews, june 2026. all figures self-report; medium confidence pending sigma telemetry.', 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58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Track 1 — limits (telemetry)</a:t>
            </a:r>
          </a:p>
          <a:p>
            <a:r>
              <a:t>• Confirm Sigma access and field coverage for federal/self-managed accounts.</a:t>
            </a:r>
          </a:p>
          <a:p>
            <a:r>
              <a:t>• Pull p10/p50/p90 distributions for auth rate, concurrency, client count, CPU/RAM, and network utilization.</a:t>
            </a:r>
          </a:p>
          <a:p>
            <a:r>
              <a:t>• Reconcile the RAM-vs-network-first conflict (H3) — this is the single highest-value telemetry question for D2.</a:t>
            </a:r>
          </a:p>
          <a:p>
            <a:r>
              <a:t>• Map D1 ranges to three candidate tiers and bring to Sara for D1 sign-off.</a:t>
            </a:r>
          </a:p>
          <a:p>
            <a:r>
              <a:t>• Owner: benjamin howard. dependency: sigma access confirmation (week 1 gate).</a:t>
            </a:r>
          </a:p>
          <a:p>
            <a:r>
              <a:t>• Conduct 4–6 interviews with federal customers focused on: what blocked initial deployment, what they needed and couldn't find, and what makes cloud migration feasible.</a:t>
            </a:r>
          </a:p>
          <a:p>
            <a:r>
              <a:t>• Document the onboarding workflow and identify the three highest-friction points. Scope migration tooling requirements.</a:t>
            </a:r>
          </a:p>
          <a:p>
            <a:r>
              <a:t>• Owner: benjamin howard + sara snowden. decision gate: sara confirms whether this is scoped into current discovery or a separate initiative.</a:t>
            </a:r>
          </a:p>
          <a:p>
            <a:r>
              <a:t>• Recommendation: open this track now, in parallel with telemetry. Do not wait for D1–D5 to close.</a:t>
            </a:r>
          </a:p>
          <a:p>
            <a:r>
              <a:t>• All current findings are medium confidence or below. two sessions, no telemetry, one advisory-only participant.</a:t>
            </a:r>
          </a:p>
          <a:p>
            <a:r>
              <a:t>• This deck provides directional evidence sufficient to frame D1–D5 and open the onboarding track. It does not provide final numbers.</a:t>
            </a:r>
          </a:p>
          <a:p>
            <a:r>
              <a:t>• No D1–D5 recommendation should be finalized for executive sign-off until Sigma telemetry has been run and at least one more hands-on deployment participant has been interviewed.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95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The problem</a:t>
            </a:r>
          </a:p>
          <a:p>
            <a:r>
              <a:t>• Vault is launching a FedRAMP-ready offering on MCSP. the team needs credible service limits — but current evidence on how federal customers actually use vault at scale is incomplete. wrong limits create launch, reliability, and commercial risk.</a:t>
            </a:r>
          </a:p>
          <a:p>
            <a:r>
              <a:t>• Onboarding and migration friction — not capacity limits — is the primary launch risk.</a:t>
            </a:r>
          </a:p>
          <a:p>
            <a:r>
              <a:t>• Federal workloads are machine-heavy; human logins are low and will stay low.</a:t>
            </a:r>
          </a:p>
          <a:p>
            <a:r>
              <a:t>• At least four distinct customer archetypes exist; a single global limit set over-provisions the median by more than 2x.</a:t>
            </a:r>
          </a:p>
          <a:p>
            <a:r>
              <a:t>• FedRAMP presence earns market entry even for segments that cannot consume High directly.</a:t>
            </a:r>
          </a:p>
          <a:p>
            <a:r>
              <a:t>• All D1–D5 findings are medium confidence or below — sigma telemetry is the next required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410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Established enterprise</a:t>
            </a:r>
          </a:p>
          <a:p>
            <a:r>
              <a:t>• Mature (7+ yrs), agency-wide. many nested namespaces, per-namespace admins. thousands of machine transactions during events. highest migration debt.</a:t>
            </a:r>
          </a:p>
          <a:p>
            <a:r>
              <a:t>• Vault embedded at the edge (e.g., two-man carry kit). users never see vault. single admin. off-grid cred pulls on 30-day cadence. self-managed only.</a:t>
            </a:r>
          </a:p>
          <a:p>
            <a:r>
              <a:t>• Irs, DHS, faa-tier. locked-down civilian agencies with seasonal spikes. RTO/RPO ~2h typical, ~10 min mission-critical. best SaaS candidates.</a:t>
            </a:r>
          </a:p>
          <a:p>
            <a:r>
              <a:t>• Per-classified-network isolation required. no cross-domain/MLS. drives vault CE proliferation. IC and financials demand single-tenant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3689323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Workload ranges</a:t>
            </a:r>
          </a:p>
          <a:p>
            <a:r>
              <a:t>• Quantify realistic ranges for federal Vault use: users, machines, apps, auth rate, concurrency, and throughput.</a:t>
            </a:r>
          </a:p>
          <a:p>
            <a:r>
              <a:t>• Identify distinct federal usage archetypes and map them to launch capacity tiers.</a:t>
            </a:r>
          </a:p>
          <a:p>
            <a:r>
              <a:t>• Define threshold-based scaling guidance — when to add capacity vs. create new clusters.</a:t>
            </a:r>
          </a:p>
          <a:p>
            <a:r>
              <a:t>• Validate or reject current anecdotal assumptions with traceable evidence and confidence levels.</a:t>
            </a:r>
          </a:p>
          <a:p>
            <a:r>
              <a:t>• Surface launch-critical risks, dependencies, and mitigations tied to FedRAMP operating constraints.</a:t>
            </a:r>
          </a:p>
          <a:p>
            <a:r>
              <a:t>• Provide a clear recommendation matrix that supports executive sign-off on initial service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0565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Launch decisions: what the field tells 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652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18: UNKNOWN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2069473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What we studied</a:t>
            </a:r>
          </a:p>
          <a:p>
            <a:r>
              <a:t>• Two 45–67 min internal interviews with public-sector solutions engineers covering all federal segments: DoD, civilian (DHS, FAA, DOJ), IC, and state/local.</a:t>
            </a:r>
          </a:p>
          <a:p>
            <a:r>
              <a:t>• federal rfis analyzed across army, air force, DISA, and defense industry for demand signals, constraint clauses, and SLA language.</a:t>
            </a:r>
          </a:p>
          <a:p>
            <a:r>
              <a:t>• All findings are self-report or advisory, capped at medium confidence pending sigma telemetry anchoring. no claim in this deck exceeds medium confidence on its own.</a:t>
            </a:r>
          </a:p>
          <a:p>
            <a:r>
              <a:t>• Tim olson — SE, public sector, 7+ yrs. direct exposure across dod, civilian, IC, and state/local. hands-on through deployment and onboarding.</a:t>
            </a:r>
          </a:p>
          <a:p>
            <a:r>
              <a:t>• Tim silk — manager, public-sector pre-sales. frames market needs and funnels them to product. ~5 yrs.</a:t>
            </a:r>
          </a:p>
          <a:p>
            <a:r>
              <a:t>• Luke mccleary — SE, civilian accounts. covers DHS, FAA, DOJ. largest federal renewal base, ~$6M ARR. advisory role; no hands-on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4107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What the field observed</a:t>
            </a:r>
          </a:p>
          <a:p>
            <a:r>
              <a:t>• No customer in Luke's base — including a 30,000-license account on a 5-node cluster — has ever hit a performance limit.</a:t>
            </a:r>
          </a:p>
          <a:p>
            <a:r>
              <a:t>• Deals at the department of energy have renewed for five years without ever deploying.</a:t>
            </a:r>
          </a:p>
          <a:p>
            <a:r>
              <a:t>• The product has no usability-focused onboarding: no wizards, no migration tooling, no guided setup. Customers are given a free-for-all and expected to figure it out.</a:t>
            </a:r>
          </a:p>
          <a:p>
            <a:r>
              <a:t>• Migration from self-managed to cloud is so painful one customer took three years. This is the primary blocker to federal cloud adoption — not feature gaps.</a:t>
            </a:r>
          </a:p>
          <a:p>
            <a:r>
              <a:t>• Capacity limits are necessary but not sufficient. Setting the right limits without removing onboarding friction means customers will acquire the service and not deploy it.</a:t>
            </a:r>
          </a:p>
          <a:p>
            <a:r>
              <a:t>• This does not mean limits work stops. It means a second parallel track is needed: understanding what onboarding workflows federal customers actually need.</a:t>
            </a:r>
          </a:p>
          <a:p>
            <a:r>
              <a:t>• The two tracks are complementary. limits define what the service can handle. onboarding determines whether customers ever get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4107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D1–D5 best-available 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Directionally solid — act on now</a:t>
            </a:r>
          </a:p>
          <a:p>
            <a:r>
              <a:t>• Machine-heavy pattern confirmed across both sessions and RFI NPE framing. Human logins will remain low relative to machine auth.</a:t>
            </a:r>
          </a:p>
          <a:p>
            <a:r>
              <a:t>• Multi-tier limits are needed. Four archetypes emerged independently; one global limit over-provisions the median by more than 2x.</a:t>
            </a:r>
          </a:p>
          <a:p>
            <a:r>
              <a:t>• Tenancy default is dedicated nodes; single-tenant for IC and financials; low-resource variant for sciences agencies.</a:t>
            </a:r>
          </a:p>
          <a:p>
            <a:r>
              <a:t>• FedRAMP presence earns marketplace visibility and inbound interest even from segments that cannot consume High directly.</a:t>
            </a:r>
          </a:p>
          <a:p>
            <a:r>
              <a:t>• Onboarding and migration friction is the primary adoption risk. Consistent across both sessions and the 6/04 sync.</a:t>
            </a:r>
          </a:p>
          <a:p>
            <a:r>
              <a:t>• D1 numeric limits — anchor all ranges against Sigma p10/p50/p90 before publishing.</a:t>
            </a:r>
          </a:p>
          <a:p>
            <a:r>
              <a:t>• D2 guardrails — resolve RAM-vs-network-first conflict via telemetry before finalizing cluster sizing.</a:t>
            </a:r>
          </a:p>
          <a:p>
            <a:r>
              <a:t>• D3 scaling trigger — map MCSP ~500-worker-node ceiling against archetype usage patterns.</a:t>
            </a:r>
          </a:p>
          <a:p>
            <a:r>
              <a:t>• D4 SLA targets — design-intent RTO/RPO needs behavioral data. AFTAC 99.99% is a useful DoD reference but is a procurement statement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4107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Recommendations and next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• Onboarding track scope</a:t>
            </a:r>
          </a:p>
          <a:p>
            <a:r>
              <a:t>• Should the onboarding interview track be scoped into current discovery or flagged as a separate initiative? who owns recruiting — benjamin, sara, or field leads?</a:t>
            </a:r>
          </a:p>
          <a:p>
            <a:r>
              <a:t>• Has the week 1 telemetry pre-check completed? are federal/self-managed accounts in scope? do required fields (CPU/RAM/network/auth rate) exist in sigma?</a:t>
            </a:r>
          </a:p>
          <a:p>
            <a:r>
              <a:t>• Three tenancy tiers: shared, dedicated nodes (default), single-tenant (IC/financials). does engineering need this before architecture decisions?</a:t>
            </a:r>
          </a:p>
          <a:p>
            <a:r>
              <a:t>• Tim olson recommended dan fedick (federal field CTO, former air force) as the highest-value next participant. should he be recruited before or after sigma analysis?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3689323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1"/>
            <a:ext cx="24387175" cy="121951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09935B61-CCB4-2F0F-6720-2DE3FDE1A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F3BE6BB-D7C0-3C9B-44F9-5D564E48D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Blue 10 full slide background 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-1"/>
            <a:ext cx="24387175" cy="12195175"/>
          </a:xfrm>
          <a:prstGeom prst="rect">
            <a:avLst/>
          </a:prstGeom>
          <a:solidFill>
            <a:srgbClr val="E5F6FF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7" name="Picture 6" descr="IBM 8-bar logo">
            <a:extLst>
              <a:ext uri="{FF2B5EF4-FFF2-40B4-BE49-F238E27FC236}">
                <a16:creationId xmlns:a16="http://schemas.microsoft.com/office/drawing/2014/main" id="{B4B109D8-FCAE-74D0-0B39-85BF626C84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9FACBA3-656A-1C9D-A350-7759736DCC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12166599"/>
            <a:ext cx="4942455" cy="1074293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A47F09F-F9D8-7B01-E53E-EE9451C6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166600"/>
            <a:ext cx="4947412" cy="1077014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8FFB679-F0FF-1DD1-8243-9D4ADEF38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1"/>
            <a:ext cx="10101072" cy="7308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043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4F73B63-FCC7-DAFC-5E97-E0D29B2DBF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1EEBBCD-6628-78CD-1209-20B2834A6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00" y="12479147"/>
            <a:ext cx="11038445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81A5AEF9-6465-6773-9724-1305F82453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373802" y="12577763"/>
            <a:ext cx="1538325" cy="572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F40089-D6C5-B905-B7FE-24BFF3580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71499"/>
            <a:ext cx="11043132" cy="12578663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11150"/>
            <a:ext cx="10101072" cy="10356850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lab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12000"/>
            <a:ext cx="10099675" cy="9147175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0A3BE97F-BB78-DA67-3A9B-B2FBFA0DFC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0086" y="12577763"/>
            <a:ext cx="1538325" cy="572400"/>
          </a:xfrm>
          <a:prstGeom prst="rect">
            <a:avLst/>
          </a:prstGeom>
        </p:spPr>
      </p:pic>
      <p:sp>
        <p:nvSpPr>
          <p:cNvPr id="6" name="Picture Placeholder 6" descr="Place imagery here">
            <a:extLst>
              <a:ext uri="{FF2B5EF4-FFF2-40B4-BE49-F238E27FC236}">
                <a16:creationId xmlns:a16="http://schemas.microsoft.com/office/drawing/2014/main" id="{54AE768F-E6B1-F789-5E61-E59B3DBA779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499" y="569913"/>
            <a:ext cx="11043132" cy="12580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421005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6675" y="574675"/>
            <a:ext cx="4953000" cy="11617318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6" y="574675"/>
            <a:ext cx="4941888" cy="11620500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2663825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2F412B5-726F-373A-86F7-2FBA60F140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E2B1415-A9D9-645B-4DF0-7D16976DF72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600"/>
            <a:ext cx="17141825" cy="8832850"/>
          </a:xfrm>
        </p:spPr>
        <p:txBody>
          <a:bodyPr/>
          <a:lstStyle>
            <a:lvl1pPr>
              <a:defRPr sz="168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B98A3D4B-A3E1-0D38-F80E-1D86FCFA4DA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3CF46425-C9F2-46CE-AAEE-89D8A19E0F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9909175" cy="4209670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80000" y="384048"/>
            <a:ext cx="11042073" cy="87784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20FC8337-4A61-6950-CEE5-DDB270D1074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F8F57643-D39B-662E-5D14-6D9BFA200F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49EB6B2-A4A6-F162-D0FE-417694FC70F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434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DAC6A96-E5C9-E8BD-2383-92616744093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0CC16BE-B09A-0C84-8A0B-5FE3F85FB19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10356265"/>
          </a:xfrm>
        </p:spPr>
        <p:txBody>
          <a:bodyPr/>
          <a:lstStyle>
            <a:lvl1pPr>
              <a:lnSpc>
                <a:spcPct val="100000"/>
              </a:lnSpc>
              <a:defRPr sz="840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576072"/>
            <a:ext cx="7623175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00" y="9628222"/>
            <a:ext cx="11050588" cy="3353065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3587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72"/>
            <a:ext cx="7620000" cy="704392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80000" y="9628222"/>
            <a:ext cx="11049000" cy="3354293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2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21A64AF3-E67B-E80B-A5D3-6B3533C87F9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8C4F134-9B5D-407C-F525-B2FC25B7B5C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5200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80000" y="385200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385200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56FFD0-F317-D3D7-DE9D-AA1F4AB27EE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99D670E-69CE-BB86-FB88-291343BDEE2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594475"/>
            <a:ext cx="11045952" cy="534009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00" y="309600"/>
            <a:ext cx="4949825" cy="533558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309600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7850" y="6097732"/>
            <a:ext cx="23234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6000" y="6594475"/>
            <a:ext cx="4946904" cy="5340096"/>
          </a:xfrm>
        </p:spPr>
        <p:txBody>
          <a:bodyPr/>
          <a:lstStyle>
            <a:lvl1pPr>
              <a:lnSpc>
                <a:spcPct val="100000"/>
              </a:lnSpc>
              <a:defRPr sz="84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9ABB71-218D-3F6E-E3F7-5348FD395D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77BD92D-3A6C-2396-61D4-51D7CC5B1C0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384048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2897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57517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957821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5125969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9140825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9526645"/>
            <a:ext cx="4951411" cy="2668530"/>
          </a:xfrm>
        </p:spPr>
        <p:txBody>
          <a:bodyPr/>
          <a:lstStyle>
            <a:lvl1pPr>
              <a:lnSpc>
                <a:spcPct val="90000"/>
              </a:lnSpc>
              <a:defRPr sz="1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670409"/>
            <a:ext cx="7620000" cy="2524766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58650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5C3AC-E4B9-F837-204B-FF01953D40B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2119C11-B0BD-168C-0C07-D70B259D390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30AE7-F6A6-A339-0B24-876A9554C9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A616C3-34A8-1D7A-67C9-8B76F2D30BD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70675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044825"/>
            <a:ext cx="0" cy="91454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044825"/>
            <a:ext cx="0" cy="91503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E154F-497D-F356-4526-C17B1B098AC9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3714515-3CA1-0F75-0503-3208A09DFA76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B531E36-2064-83A6-3D5A-E40E324F8495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582422" y="3047999"/>
            <a:ext cx="4956175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0587680-FBD6-A326-93E3-B3437A4124A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AE80882-A798-33A6-BF3F-DF9C75646C23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1809E051-5EDC-532B-0D86-AA9349AAA053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62675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88952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F2C39-1D80-7B1C-F53D-B11D6327AF07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6961C62-D766-8A68-1FA3-BF6BE095543D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8000"/>
            <a:ext cx="4942078" cy="45783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4799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4212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2677" y="3047999"/>
            <a:ext cx="4941886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C59ECBB-8567-F0FF-2B81-7CCA543AC3A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193F0BFF-6925-3869-6436-5F209217E4E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3EC1ADC5-863A-1C19-32F5-F71459CCBF1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3142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72E1DB67-171C-F7FE-B9F6-5778755FF74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6EF3DAE3-95FD-80AD-F6F4-79B5745FA45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2078" cy="3117978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2" y="384048"/>
            <a:ext cx="4951414" cy="220126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153" y="3047999"/>
            <a:ext cx="4951413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5153" y="3047999"/>
            <a:ext cx="10096500" cy="9153525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C93AC5E-9451-FF93-87DD-889A48A00DD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1F6E83E-BB80-D71A-7819-884C0CD47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00" y="3047999"/>
            <a:ext cx="10099675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3047999"/>
            <a:ext cx="100965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9E836C4-97D9-E198-E7C4-C2E94BADE6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1A72C-9D4B-8178-79CE-382DDE87CD2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491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6675" y="576071"/>
            <a:ext cx="4949825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71"/>
            <a:ext cx="4941888" cy="1161910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8BE2778-A9AA-3756-3479-C4A6DD4F0F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1D49C41-81F4-5A73-2F6D-EF2D5E38372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2078" cy="3995927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80000" y="576000"/>
            <a:ext cx="4953000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2675" y="576000"/>
            <a:ext cx="4941888" cy="116220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B9B0455-A1CF-B58E-3124-86D0B0DD2BB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64E5562-E403-533D-BEAD-AB50713ED18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196BE21-C69D-85CB-EE77-49D2E4993A0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DBB179B0-7DF8-112C-BC38-B65090C6DD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6" cy="3995927"/>
          </a:xfrm>
        </p:spPr>
        <p:txBody>
          <a:bodyPr rIns="0"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42078" cy="187776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2FA1770-E046-DD8F-9F28-19D80D1D67C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1ADA982-549A-4D2D-490A-DE5610A5087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4949825" cy="4210177"/>
          </a:xfrm>
        </p:spPr>
        <p:txBody>
          <a:bodyPr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311058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0675" y="3016790"/>
            <a:ext cx="4951413" cy="9188588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7999"/>
            <a:ext cx="495300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7999"/>
            <a:ext cx="4959350" cy="9153525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7E14D98-D346-214C-0437-7A0B4A7F3F0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8CDC5D22-5EFB-A82A-2192-76A569B4B0D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 descr="Vertical column divider">
            <a:extLst>
              <a:ext uri="{FF2B5EF4-FFF2-40B4-BE49-F238E27FC236}">
                <a16:creationId xmlns:a16="http://schemas.microsoft.com/office/drawing/2014/main" id="{75E2B956-D8A8-9075-0842-BD0DAFFD412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BE2C4D34-A499-856F-2ED0-C6A511B884A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800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24765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3642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 dirty="0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80000" y="8382000"/>
            <a:ext cx="667512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FC9DA86-6E63-7EF1-DAC1-73040332758F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E7CD285-42F9-CF03-AB5C-1DC86205FBC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E664AD27-CDB8-1E16-6F0A-1A4FF8BD97F5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4000"/>
            <a:ext cx="4948428" cy="3048000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61128" cy="462153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3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62675" y="576072"/>
            <a:ext cx="495935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6670675"/>
            <a:ext cx="4953000" cy="494842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6670675"/>
            <a:ext cx="4953000" cy="494842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D288907-977D-2E2D-D334-59684842A63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99C7C32-4361-2D42-DB76-E3E2316F597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009016F-5759-0B27-8DB2-77BDD7980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1523872"/>
            <a:ext cx="11044239" cy="4572128"/>
          </a:xfrm>
        </p:spPr>
        <p:txBody>
          <a:bodyPr rIns="457200"/>
          <a:lstStyle>
            <a:lvl1pPr>
              <a:lnSpc>
                <a:spcPct val="11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97527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B933E98-EDAA-167B-D822-384AE57CFD4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CE74F70-DD3B-B787-1122-8CC2F06AD01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3047254-F916-4821-F269-6EDEB3A3FAD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00" y="576072"/>
            <a:ext cx="4942078" cy="3995928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A61589D3-5821-F43C-9924-D7FBDD5E84A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9EA471B4-B30A-F4D7-84E4-C54A4D1ACD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C5CEBFE7-AD2E-DFE8-B046-3B86682861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2695C8E-740F-09FE-EEF5-F2D3F3F881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9937119-9484-C422-CDBB-7ACF8FB463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031FDB97-22F2-B958-137D-E25328D2B01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6415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1"/>
            <a:ext cx="4956048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76071"/>
            <a:ext cx="4946904" cy="4956048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6DFE032-E717-840D-774E-AC6218CA01A8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81024" y="12823285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19EFD5E-874A-DCAB-55D5-D376C79F2C6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813F20A-BEE4-B8A6-B7C6-A452A39FAD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6415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50973AC-ED14-F5BF-FFA2-3AA73BE9F4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6673850"/>
            <a:ext cx="4956048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BE127C12-10BF-D35C-4112-2B9F89481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499" y="6673850"/>
            <a:ext cx="4946904" cy="4956048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499" y="1524000"/>
            <a:ext cx="4956048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800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1524000"/>
            <a:ext cx="4953000" cy="399910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523999"/>
            <a:ext cx="4946904" cy="3999099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499" y="7623594"/>
            <a:ext cx="4956048" cy="399829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800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80000" y="7623594"/>
            <a:ext cx="4956048" cy="399829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623594"/>
            <a:ext cx="4946904" cy="39982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6C9A7FC-6BA2-EF1D-18D5-F605D8C7C00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C0294F07-890E-B2F9-0CAD-1B5AFB7648A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 descr="Vertical column divider">
            <a:extLst>
              <a:ext uri="{FF2B5EF4-FFF2-40B4-BE49-F238E27FC236}">
                <a16:creationId xmlns:a16="http://schemas.microsoft.com/office/drawing/2014/main" id="{0E795639-6102-AB6C-5918-29F86236BFD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357E5319-53C7-E291-189E-B5A9A71EC85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C5786CF5-FEFB-F111-90C8-4410630FD7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0103"/>
            <a:ext cx="0" cy="1162208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9A0B1DF-AF8B-38B3-B47C-60722DFBF162}"/>
              </a:ext>
            </a:extLst>
          </p:cNvPr>
          <p:cNvSpPr>
            <a:spLocks noGrp="1"/>
          </p:cNvSpPr>
          <p:nvPr userDrawn="1"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FD38FC2-A92F-D3A8-74D5-CE6E95D9C133}"/>
              </a:ext>
            </a:extLst>
          </p:cNvPr>
          <p:cNvSpPr txBox="1">
            <a:spLocks noGrp="1"/>
          </p:cNvSpPr>
          <p:nvPr userDrawn="1"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A5B6E0FE-2F6F-9D77-9834-2DF9E13E226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22E65FD-CDEF-1AA2-2521-5B200BF4B6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83C43A7A-FFA5-D00F-7BEB-AA5C5DA6FB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558C27E-CF79-F761-3827-DA392178DC8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C0BF9C6F-22AC-2FF0-D8C9-37373CDEB3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800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C192388-DAC3-247F-4457-03A65F8CDF3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75691-23B7-FADC-4357-CB3662EB377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 descr="Vertical column divider">
            <a:extLst>
              <a:ext uri="{FF2B5EF4-FFF2-40B4-BE49-F238E27FC236}">
                <a16:creationId xmlns:a16="http://schemas.microsoft.com/office/drawing/2014/main" id="{CB17488F-3B5A-CD3F-8D89-787477C1F94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8288000" y="573138"/>
            <a:ext cx="0" cy="1162203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 descr="Horizontal row divider">
            <a:extLst>
              <a:ext uri="{FF2B5EF4-FFF2-40B4-BE49-F238E27FC236}">
                <a16:creationId xmlns:a16="http://schemas.microsoft.com/office/drawing/2014/main" id="{7B2108DD-FE3A-F98C-D857-CDFA3DAD96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6072" y="6096000"/>
            <a:ext cx="2322849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3D0E68D-02AF-474A-3224-FF5108D233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83300"/>
            <a:ext cx="0" cy="61118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 descr="Vertical column divider">
            <a:extLst>
              <a:ext uri="{FF2B5EF4-FFF2-40B4-BE49-F238E27FC236}">
                <a16:creationId xmlns:a16="http://schemas.microsoft.com/office/drawing/2014/main" id="{5600EFDE-928F-B419-8585-5582A68373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5C1B1885-0510-1907-4EAD-DB9018C133E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75882"/>
            <a:ext cx="4949825" cy="551929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5804D2DB-0651-E704-D761-49FB6352B7C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3241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900EBA3-CCC2-CE83-A620-B68ADAF837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780000" y="6673851"/>
            <a:ext cx="4949825" cy="5521323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B4091C-FF62-7BAF-B996-F22392D5E7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73851"/>
            <a:ext cx="4949825" cy="5521324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46904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0675" y="3041649"/>
            <a:ext cx="4951413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76073"/>
            <a:ext cx="11041253" cy="1257160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5F8DDE-78BD-E2B6-1CAB-2A9EF14E9F7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09C899-A6D4-3826-EAB8-A75F78607CE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BEB46264-65A0-272C-CC19-DCA9B586608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00" y="3041649"/>
            <a:ext cx="4956175" cy="915352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71500"/>
            <a:ext cx="17137063" cy="125793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547D5110-D587-CC11-18F6-FEB7AA2D785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8A69D316-0792-83BD-3912-71CDE3BB681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7850" y="571500"/>
            <a:ext cx="23226713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 descr="Place bio portrait here">
            <a:extLst>
              <a:ext uri="{FF2B5EF4-FFF2-40B4-BE49-F238E27FC236}">
                <a16:creationId xmlns:a16="http://schemas.microsoft.com/office/drawing/2014/main" id="{0B1677E6-5066-100D-29D6-CCAD04C21BCE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76000" y="3044825"/>
            <a:ext cx="2462402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  <p:sp>
        <p:nvSpPr>
          <p:cNvPr id="13" name="Picture Placeholder 7" descr="Place bio portrait here">
            <a:extLst>
              <a:ext uri="{FF2B5EF4-FFF2-40B4-BE49-F238E27FC236}">
                <a16:creationId xmlns:a16="http://schemas.microsoft.com/office/drawing/2014/main" id="{3DCE12BA-53E1-8B67-A029-029F1E6F9163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76000" y="6096000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15" name="Picture Placeholder 7" descr="Place bio portrait here">
            <a:extLst>
              <a:ext uri="{FF2B5EF4-FFF2-40B4-BE49-F238E27FC236}">
                <a16:creationId xmlns:a16="http://schemas.microsoft.com/office/drawing/2014/main" id="{05E149CA-A25F-74EE-93DF-1A877CDE924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576000" y="9140825"/>
            <a:ext cx="2462402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5" name="Picture Placeholder 7" descr="Place bio portrait here">
            <a:extLst>
              <a:ext uri="{FF2B5EF4-FFF2-40B4-BE49-F238E27FC236}">
                <a16:creationId xmlns:a16="http://schemas.microsoft.com/office/drawing/2014/main" id="{AAC7C1AD-0F8C-4D02-0112-981444AFE98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2780000" y="3044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7" name="Picture Placeholder 7" descr="Place bio portrait here">
            <a:extLst>
              <a:ext uri="{FF2B5EF4-FFF2-40B4-BE49-F238E27FC236}">
                <a16:creationId xmlns:a16="http://schemas.microsoft.com/office/drawing/2014/main" id="{22271FFB-E2D1-459B-4089-A291A1110AE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12780000" y="6096000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9" name="Picture Placeholder 7" descr="Place bio portrait here">
            <a:extLst>
              <a:ext uri="{FF2B5EF4-FFF2-40B4-BE49-F238E27FC236}">
                <a16:creationId xmlns:a16="http://schemas.microsoft.com/office/drawing/2014/main" id="{F3C99020-5BF1-8A8C-BDCB-42766A5B9BE5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2780000" y="9140825"/>
            <a:ext cx="2459736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3044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096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140825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D4D4C25-96EE-FF6D-B301-962CD7A6366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A0E5B0D-36A0-4281-7D57-C2CC445311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76000"/>
            <a:ext cx="17145000" cy="11623675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icon to add table</a:t>
            </a:r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694FFFD-5196-625E-C3FC-9AB6BB13FC3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D2D25A8-2AEC-F554-8D58-47C112486D4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1527049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FFC916-9B64-A7DC-672D-A4AFA1AE96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7500" y="12782487"/>
            <a:ext cx="5524500" cy="425450"/>
          </a:xfrm>
        </p:spPr>
        <p:txBody>
          <a:bodyPr anchor="b" anchorCtr="0"/>
          <a:lstStyle>
            <a:lvl1pPr>
              <a:defRPr sz="1600">
                <a:latin typeface="IBM Plex Sans" panose="020B0503050203000203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Source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A85749-B0F2-6B16-9E7E-1C979593E9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6000" y="3044825"/>
            <a:ext cx="4943475" cy="9150350"/>
          </a:xfrm>
        </p:spPr>
        <p:txBody>
          <a:bodyPr/>
          <a:lstStyle>
            <a:lvl1pPr>
              <a:defRPr sz="28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800">
                <a:latin typeface="+mj-lt"/>
              </a:defRPr>
            </a:lvl3pPr>
            <a:lvl4pPr>
              <a:defRPr sz="2800">
                <a:latin typeface="+mj-lt"/>
              </a:defRPr>
            </a:lvl4pPr>
            <a:lvl5pPr>
              <a:defRPr sz="2800">
                <a:latin typeface="+mj-lt"/>
              </a:defRPr>
            </a:lvl5pPr>
          </a:lstStyle>
          <a:p>
            <a:pPr>
              <a:lnSpc>
                <a:spcPct val="110000"/>
              </a:lnSpc>
            </a:pPr>
            <a:r>
              <a:rPr lang="en-US" sz="2800" dirty="0">
                <a:latin typeface="IBM Plex Sans Light" panose="020B0403050203000203" pitchFamily="34" charset="0"/>
              </a:rPr>
              <a:t>Lorem ipsum dolor sit </a:t>
            </a:r>
            <a:r>
              <a:rPr lang="en-US" sz="2800" dirty="0" err="1">
                <a:latin typeface="IBM Plex Sans Light" panose="020B0403050203000203" pitchFamily="34" charset="0"/>
              </a:rPr>
              <a:t>amet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donec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quam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felis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ultricies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nec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pellentesque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eu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pretium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sem. </a:t>
            </a:r>
            <a:r>
              <a:rPr lang="en-US" sz="2800" dirty="0" err="1">
                <a:latin typeface="IBM Plex Sans Light" panose="020B0403050203000203" pitchFamily="34" charset="0"/>
              </a:rPr>
              <a:t>Nulla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conset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massa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quis</a:t>
            </a:r>
            <a:r>
              <a:rPr lang="en-US" sz="2800" dirty="0">
                <a:latin typeface="IBM Plex Sans Light" panose="020B0403050203000203" pitchFamily="34" charset="0"/>
              </a:rPr>
              <a:t> </a:t>
            </a:r>
            <a:r>
              <a:rPr lang="en-US" sz="2800" dirty="0" err="1">
                <a:latin typeface="IBM Plex Sans Light" panose="020B0403050203000203" pitchFamily="34" charset="0"/>
              </a:rPr>
              <a:t>enim</a:t>
            </a:r>
            <a:r>
              <a:rPr lang="en-US" sz="2800" dirty="0">
                <a:latin typeface="IBM Plex Sans Light" panose="020B0403050203000203" pitchFamily="34" charset="0"/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CF978-95F1-0188-4FBB-81AAB884C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910353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62675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C628C1A-F2DD-6011-5846-A9A3A6D3BD7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84048"/>
            <a:ext cx="4956175" cy="2859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8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800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76000"/>
            <a:ext cx="4953000" cy="11625262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5CA4A6F-2777-D002-EE9E-92C246A4DA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FBFB86A-A7DC-B54C-4EEC-B69E1897903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, no foo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B0435695-E156-66C6-5CE4-B0F751F125D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19226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517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46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86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6000" y="1282328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45" r:id="rId2"/>
    <p:sldLayoutId id="2147483904" r:id="rId3"/>
    <p:sldLayoutId id="2147483905" r:id="rId4"/>
    <p:sldLayoutId id="2147483901" r:id="rId5"/>
    <p:sldLayoutId id="2147483692" r:id="rId6"/>
    <p:sldLayoutId id="2147483906" r:id="rId7"/>
    <p:sldLayoutId id="2147483907" r:id="rId8"/>
    <p:sldLayoutId id="2147483910" r:id="rId9"/>
    <p:sldLayoutId id="2147483908" r:id="rId10"/>
    <p:sldLayoutId id="2147483909" r:id="rId11"/>
    <p:sldLayoutId id="2147483912" r:id="rId12"/>
    <p:sldLayoutId id="2147483914" r:id="rId13"/>
    <p:sldLayoutId id="2147483915" r:id="rId14"/>
    <p:sldLayoutId id="2147483913" r:id="rId15"/>
    <p:sldLayoutId id="2147483917" r:id="rId16"/>
    <p:sldLayoutId id="2147483942" r:id="rId17"/>
    <p:sldLayoutId id="2147483919" r:id="rId18"/>
    <p:sldLayoutId id="2147483929" r:id="rId19"/>
    <p:sldLayoutId id="2147483920" r:id="rId20"/>
    <p:sldLayoutId id="2147483930" r:id="rId21"/>
    <p:sldLayoutId id="2147483928" r:id="rId22"/>
    <p:sldLayoutId id="2147483948" r:id="rId23"/>
    <p:sldLayoutId id="2147483927" r:id="rId24"/>
    <p:sldLayoutId id="2147483950" r:id="rId25"/>
    <p:sldLayoutId id="2147483921" r:id="rId26"/>
    <p:sldLayoutId id="2147483916" r:id="rId27"/>
    <p:sldLayoutId id="2147483922" r:id="rId28"/>
    <p:sldLayoutId id="2147483965" r:id="rId29"/>
    <p:sldLayoutId id="2147483956" r:id="rId30"/>
    <p:sldLayoutId id="2147483923" r:id="rId31"/>
    <p:sldLayoutId id="2147483924" r:id="rId32"/>
    <p:sldLayoutId id="2147483926" r:id="rId33"/>
    <p:sldLayoutId id="2147483925" r:id="rId34"/>
    <p:sldLayoutId id="2147483959" r:id="rId35"/>
    <p:sldLayoutId id="2147483937" r:id="rId36"/>
    <p:sldLayoutId id="2147483932" r:id="rId37"/>
    <p:sldLayoutId id="2147483934" r:id="rId38"/>
    <p:sldLayoutId id="2147483935" r:id="rId39"/>
    <p:sldLayoutId id="2147483936" r:id="rId40"/>
    <p:sldLayoutId id="2147483938" r:id="rId41"/>
    <p:sldLayoutId id="2147483939" r:id="rId42"/>
    <p:sldLayoutId id="2147483964" r:id="rId43"/>
    <p:sldLayoutId id="2147483940" r:id="rId44"/>
    <p:sldLayoutId id="2147483960" r:id="rId45"/>
    <p:sldLayoutId id="2147483943" r:id="rId46"/>
    <p:sldLayoutId id="2147483963" r:id="rId47"/>
    <p:sldLayoutId id="2147483941" r:id="rId48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IBM Plex Sans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9" orient="horz" pos="3840" userDrawn="1">
          <p15:clr>
            <a:srgbClr val="EE5396"/>
          </p15:clr>
        </p15:guide>
        <p15:guide id="20" orient="horz" pos="958" userDrawn="1">
          <p15:clr>
            <a:srgbClr val="EE5396"/>
          </p15:clr>
        </p15:guide>
        <p15:guide id="25" orient="horz" pos="7682" userDrawn="1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30" orient="horz" pos="1918" userDrawn="1">
          <p15:clr>
            <a:srgbClr val="EE5396"/>
          </p15:clr>
        </p15:guide>
        <p15:guide id="32" orient="horz" pos="6720" userDrawn="1">
          <p15:clr>
            <a:srgbClr val="EE5396"/>
          </p15:clr>
        </p15:guide>
        <p15:guide id="33" orient="horz" pos="2880" userDrawn="1">
          <p15:clr>
            <a:srgbClr val="EE5396"/>
          </p15:clr>
        </p15:guide>
        <p15:guide id="34" orient="horz" pos="4800" userDrawn="1">
          <p15:clr>
            <a:srgbClr val="EE5396"/>
          </p15:clr>
        </p15:guide>
        <p15:guide id="35" orient="horz" pos="5758" userDrawn="1">
          <p15:clr>
            <a:srgbClr val="EE5396"/>
          </p15:clr>
        </p15:guide>
        <p15:guide id="36" orient="horz" pos="8284" userDrawn="1">
          <p15:clr>
            <a:srgbClr val="9FCC3B"/>
          </p15:clr>
        </p15:guide>
        <p15:guide id="37" orient="horz" pos="360" userDrawn="1">
          <p15:clr>
            <a:srgbClr val="9FCC3B"/>
          </p15:clr>
        </p15:guide>
      </p15:sldGuideLst>
    </p:ext>
  </p:extLst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4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AB738CC-3118-1EAD-4DE6-F54AC9BF8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11150"/>
            <a:ext cx="11042913" cy="4260850"/>
          </a:xfrm>
        </p:spPr>
        <p:txBody>
          <a:bodyPr/>
          <a:lstStyle/>
          <a:p>
            <a:r>
              <a:rPr lang="en-US" dirty="0"/>
              <a:t>FedRAMP Vault adoption — interim research findings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9F697BD-2C49-62DD-6FD3-03468B3C5036}"/>
              </a:ext>
            </a:extLst>
          </p:cNvPr>
          <p:cNvSpPr txBox="1">
            <a:spLocks/>
          </p:cNvSpPr>
          <p:nvPr/>
        </p:nvSpPr>
        <p:spPr>
          <a:xfrm>
            <a:off x="577850" y="4572000"/>
            <a:ext cx="11041063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800" kern="0" dirty="0"/>
              <a:t>Sessions 1–2 synthesis | june 2026 | benjamin howard</a:t>
            </a:r>
          </a:p>
        </p:txBody>
      </p:sp>
    </p:spTree>
    <p:extLst>
      <p:ext uri="{BB962C8B-B14F-4D97-AF65-F5344CB8AC3E}">
        <p14:creationId xmlns:p14="http://schemas.microsoft.com/office/powerpoint/2010/main" val="323315734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EB65E13-A1C4-870D-0BC6-EF956A1B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44500" cy="1136777"/>
          </a:xfrm>
        </p:spPr>
        <p:txBody>
          <a:bodyPr/>
          <a:lstStyle/>
          <a:p>
            <a:r>
              <a:rPr lang="en-US" dirty="0"/>
              <a:t>What this deck covers</a:t>
            </a:r>
          </a:p>
        </p:txBody>
      </p:sp>
      <p:sp>
        <p:nvSpPr>
          <p:cNvPr id="3" name="table_of_contents_01">
            <a:extLst>
              <a:ext uri="{FF2B5EF4-FFF2-40B4-BE49-F238E27FC236}">
                <a16:creationId xmlns:a16="http://schemas.microsoft.com/office/drawing/2014/main" id="{3223E9DC-42EB-0711-A23D-16E628202A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IBM Plex Sans Medm" panose="020B0503050203000203" pitchFamily="34" charset="0"/>
              </a:rPr>
              <a:t>Study context and methodology</a:t>
            </a:r>
          </a:p>
          <a:p>
            <a:r>
              <a:rPr lang="en-US" dirty="0"/>
              <a:t>The strategic reframe</a:t>
            </a:r>
          </a:p>
          <a:p>
            <a:r>
              <a:rPr lang="en-US" dirty="0"/>
              <a:t>Usage patterns and scale</a:t>
            </a:r>
          </a:p>
        </p:txBody>
      </p:sp>
      <p:sp>
        <p:nvSpPr>
          <p:cNvPr id="4" name="table_of_contents_02">
            <a:extLst>
              <a:ext uri="{FF2B5EF4-FFF2-40B4-BE49-F238E27FC236}">
                <a16:creationId xmlns:a16="http://schemas.microsoft.com/office/drawing/2014/main" id="{41FBBD1B-4D3E-88E3-6FA8-28CEFCA0F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IBM Plex Sans Medm" panose="020B0503050203000203" pitchFamily="34" charset="0"/>
              </a:rPr>
              <a:t>D1–D5 best-available evidence</a:t>
            </a:r>
          </a:p>
          <a:p>
            <a:r>
              <a:rPr lang="en-US" dirty="0"/>
              <a:t>What we know vs. what needs telemetry</a:t>
            </a:r>
          </a:p>
          <a:p>
            <a:r>
              <a:rPr lang="en-US" dirty="0"/>
              <a:t>Recommendations and next steps</a:t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1DD66032-74A7-5C7F-B556-9CFDA5E820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5</a:t>
            </a:fld>
            <a:r>
              <a:t/>
            </a:r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D8B9559-937A-ACD0-49EB-C02FFDF9D6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1568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42913" cy="2663825"/>
          </a:xfrm>
        </p:spPr>
        <p:txBody>
          <a:bodyPr/>
          <a:lstStyle/>
          <a:p>
            <a:r>
              <a:rPr lang="en-US" dirty="0"/>
              <a:t>Usage patterns and scale</a:t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41794889-6D85-5EF1-D228-19EEF3359F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6</a:t>
            </a:fld>
            <a:r>
              <a:t/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58058FD-55FE-14C2-54F7-4C716F103C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_statement">
            <a:extLst>
              <a:ext uri="{FF2B5EF4-FFF2-40B4-BE49-F238E27FC236}">
                <a16:creationId xmlns:a16="http://schemas.microsoft.com/office/drawing/2014/main" id="{180FC785-4B73-1374-CE3A-190BCF86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09599"/>
            <a:ext cx="20760000" cy="11885575"/>
          </a:xfrm>
        </p:spPr>
        <p:txBody>
          <a:bodyPr/>
          <a:lstStyle/>
          <a:p>
            <a:r>
              <a:rPr lang="en-US" dirty="0"/>
              <a:t>Limits weren't the finding — adoption was.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8" name="slide_number">
            <a:extLst>
              <a:ext uri="{FF2B5EF4-FFF2-40B4-BE49-F238E27FC236}">
                <a16:creationId xmlns:a16="http://schemas.microsoft.com/office/drawing/2014/main" id="{86C17C2C-13ED-63D8-33F8-B7F8FCF5F4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7</a:t>
            </a:fld>
            <a:r>
              <a:t/>
            </a:r>
            <a:endParaRPr lang="en-US" dirty="0"/>
          </a:p>
        </p:txBody>
      </p:sp>
      <p:sp>
        <p:nvSpPr>
          <p:cNvPr id="11" name="footer">
            <a:extLst>
              <a:ext uri="{FF2B5EF4-FFF2-40B4-BE49-F238E27FC236}">
                <a16:creationId xmlns:a16="http://schemas.microsoft.com/office/drawing/2014/main" id="{21502530-8BEB-61F0-1909-E5D61BDB19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5617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_number">
            <a:extLst>
              <a:ext uri="{FF2B5EF4-FFF2-40B4-BE49-F238E27FC236}">
                <a16:creationId xmlns:a16="http://schemas.microsoft.com/office/drawing/2014/main" id="{B2910F7C-0C3B-DA08-0CDB-0AA4B189AF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9</a:t>
            </a:fld>
            <a:r>
              <a:t/>
            </a:r>
            <a:endParaRPr lang="en-US" dirty="0"/>
          </a:p>
        </p:txBody>
      </p:sp>
      <p:sp>
        <p:nvSpPr>
          <p:cNvPr id="16" name="quote">
            <a:extLst>
              <a:ext uri="{FF2B5EF4-FFF2-40B4-BE49-F238E27FC236}">
                <a16:creationId xmlns:a16="http://schemas.microsoft.com/office/drawing/2014/main" id="{BD7EEED8-00B7-3FB8-7981-7C822E31AE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000" y="309600"/>
            <a:ext cx="14649450" cy="8831225"/>
          </a:xfrm>
        </p:spPr>
        <p:txBody>
          <a:bodyPr/>
          <a:lstStyle/>
          <a:p>
            <a:pPr marL="384048" indent="-384048"/>
            <a:r>
              <a:rPr lang="en-US" dirty="0"/>
              <a:t>“More than anything else — will it perform enough, what architecture should we deploy — I would focus on customer interviews to determine what</a:t>
            </a:r>
            <a:br>
              <a:rPr lang="en-US" dirty="0"/>
            </a:b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endParaRPr lang="en-US" sz="2800" dirty="0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9DA6A805-DE40-503B-9FE7-9272DD7B7A4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2" name="quote_name">
            <a:extLst>
              <a:ext uri="{FF2B5EF4-FFF2-40B4-BE49-F238E27FC236}">
                <a16:creationId xmlns:a16="http://schemas.microsoft.com/office/drawing/2014/main" id="{D6C8DEC2-FC6D-E614-76F6-4009323B0538}"/>
              </a:ext>
            </a:extLst>
          </p:cNvPr>
          <p:cNvSpPr txBox="1">
            <a:spLocks/>
          </p:cNvSpPr>
          <p:nvPr/>
        </p:nvSpPr>
        <p:spPr>
          <a:xfrm>
            <a:off x="577850" y="9140825"/>
            <a:ext cx="11041063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800" kern="0" dirty="0"/>
              <a:t>Luke McCleary, SE — largest federal renewal base, ~$6M ARR</a:t>
            </a:r>
          </a:p>
        </p:txBody>
      </p:sp>
    </p:spTree>
    <p:extLst>
      <p:ext uri="{BB962C8B-B14F-4D97-AF65-F5344CB8AC3E}">
        <p14:creationId xmlns:p14="http://schemas.microsoft.com/office/powerpoint/2010/main" val="166625604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88CB7BD-9975-784F-2957-374A26198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284728"/>
          </a:xfrm>
        </p:spPr>
        <p:txBody>
          <a:bodyPr/>
          <a:lstStyle/>
          <a:p>
            <a:r>
              <a:rPr lang="en-US" dirty="0"/>
              <a:t>What federal Vault deployments actually look like</a:t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2" name="statistic_01">
            <a:extLst>
              <a:ext uri="{FF2B5EF4-FFF2-40B4-BE49-F238E27FC236}">
                <a16:creationId xmlns:a16="http://schemas.microsoft.com/office/drawing/2014/main" id="{A12FA81B-2ED4-3D7D-96B6-348AE7E930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385200"/>
            <a:ext cx="4951413" cy="1907912"/>
          </a:xfrm>
        </p:spPr>
        <p:txBody>
          <a:bodyPr/>
          <a:lstStyle/>
          <a:p>
            <a:r>
              <a:rPr lang="en-US" dirty="0"/>
              <a:t>3–15</a:t>
            </a:r>
          </a:p>
        </p:txBody>
      </p:sp>
      <p:sp>
        <p:nvSpPr>
          <p:cNvPr id="41" name="statistic_claim_01">
            <a:extLst>
              <a:ext uri="{FF2B5EF4-FFF2-40B4-BE49-F238E27FC236}">
                <a16:creationId xmlns:a16="http://schemas.microsoft.com/office/drawing/2014/main" id="{844814D6-EF80-DA86-C12F-DF0ED08883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7"/>
            <a:ext cx="4951413" cy="9862108"/>
          </a:xfrm>
        </p:spPr>
        <p:txBody>
          <a:bodyPr/>
          <a:lstStyle/>
          <a:p>
            <a:r>
              <a:rPr lang="en-US" dirty="0"/>
              <a:t>Human users per deployment — low because federal agencies front vault with existing IdM/SSO and call it via API; humans rarely log in directly</a:t>
            </a:r>
            <a:r>
              <a:rPr lang="en-US" baseline="30000" dirty="0"/>
              <a:t/>
            </a:r>
          </a:p>
        </p:txBody>
      </p:sp>
      <p:sp>
        <p:nvSpPr>
          <p:cNvPr id="8" name="statistic_02">
            <a:extLst>
              <a:ext uri="{FF2B5EF4-FFF2-40B4-BE49-F238E27FC236}">
                <a16:creationId xmlns:a16="http://schemas.microsoft.com/office/drawing/2014/main" id="{C1340564-848A-490A-6BD2-DB6247C82C2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385200"/>
            <a:ext cx="4949825" cy="1906588"/>
          </a:xfrm>
        </p:spPr>
        <p:txBody>
          <a:bodyPr/>
          <a:lstStyle/>
          <a:p>
            <a:r>
              <a:rPr lang="en-US" dirty="0"/>
              <a:t>100s–1,000s</a:t>
            </a:r>
          </a:p>
        </p:txBody>
      </p:sp>
      <p:sp>
        <p:nvSpPr>
          <p:cNvPr id="42" name="statistic_claim_02">
            <a:extLst>
              <a:ext uri="{FF2B5EF4-FFF2-40B4-BE49-F238E27FC236}">
                <a16:creationId xmlns:a16="http://schemas.microsoft.com/office/drawing/2014/main" id="{B4FBDA2F-4C29-3313-CC75-DF3526AB71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2334654"/>
            <a:ext cx="4953000" cy="9862108"/>
          </a:xfrm>
        </p:spPr>
        <p:txBody>
          <a:bodyPr/>
          <a:lstStyle/>
          <a:p>
            <a:r>
              <a:rPr lang="en-US" dirty="0"/>
              <a:t>Machine/app identities per deployment — typical 300–500, scaling to thousands during mission events; ~10–20:1 apps-to-human ratio</a:t>
            </a:r>
            <a:r>
              <a:rPr lang="en-US" baseline="30000" dirty="0"/>
              <a:t/>
            </a:r>
          </a:p>
        </p:txBody>
      </p:sp>
      <p:sp>
        <p:nvSpPr>
          <p:cNvPr id="9" name="statistic_03">
            <a:extLst>
              <a:ext uri="{FF2B5EF4-FFF2-40B4-BE49-F238E27FC236}">
                <a16:creationId xmlns:a16="http://schemas.microsoft.com/office/drawing/2014/main" id="{CA84FD69-8106-18AB-0917-1042E8CFAA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385200"/>
            <a:ext cx="4949825" cy="1903413"/>
          </a:xfrm>
        </p:spPr>
        <p:txBody>
          <a:bodyPr/>
          <a:lstStyle/>
          <a:p>
            <a:r>
              <a:rPr lang="en-US" dirty="0"/>
              <a:t>100–3,000</a:t>
            </a:r>
          </a:p>
        </p:txBody>
      </p:sp>
      <p:sp>
        <p:nvSpPr>
          <p:cNvPr id="43" name="statistic_claim_03">
            <a:extLst>
              <a:ext uri="{FF2B5EF4-FFF2-40B4-BE49-F238E27FC236}">
                <a16:creationId xmlns:a16="http://schemas.microsoft.com/office/drawing/2014/main" id="{4BB208EF-9239-26EF-C308-A084648899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862108"/>
          </a:xfrm>
        </p:spPr>
        <p:txBody>
          <a:bodyPr/>
          <a:lstStyle/>
          <a:p>
            <a:r>
              <a:rPr lang="en-US" dirty="0"/>
              <a:t>Client license range at launch — most accounts start at 100–200, grow to ~1,000 at typical large scale; 10,000+ is rare</a:t>
            </a:r>
            <a:r>
              <a:rPr lang="en-US" baseline="30000" dirty="0"/>
              <a:t/>
            </a:r>
          </a:p>
        </p:txBody>
      </p:sp>
      <p:sp>
        <p:nvSpPr>
          <p:cNvPr id="4" name="statistic_sources">
            <a:extLst>
              <a:ext uri="{FF2B5EF4-FFF2-40B4-BE49-F238E27FC236}">
                <a16:creationId xmlns:a16="http://schemas.microsoft.com/office/drawing/2014/main" id="{61F0655D-F7DE-3F82-1F25-6A3D382399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70675" y="12058650"/>
            <a:ext cx="4951413" cy="1143000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dirty="0"/>
              <a:t>Source: sessions #1 and #2, internal SE/SA interviews, june 2026. all figures self-report; medium confidence pending sigma telemetry.</a:t>
            </a: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081F1433-D1F8-C656-E4E2-DD5C99D7D4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11</a:t>
            </a:fld>
            <a:r>
              <a:t/>
            </a:r>
            <a:endParaRPr lang="en-US" dirty="0"/>
          </a:p>
        </p:txBody>
      </p:sp>
      <p:cxnSp>
        <p:nvCxnSpPr>
          <p:cNvPr id="13" name="divider" descr="Vertical column divider">
            <a:extLst>
              <a:ext uri="{FF2B5EF4-FFF2-40B4-BE49-F238E27FC236}">
                <a16:creationId xmlns:a16="http://schemas.microsoft.com/office/drawing/2014/main" id="{26A5D6BC-9158-1382-75CC-9D80ADD1806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6096000" y="570103"/>
            <a:ext cx="0" cy="1162824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divider" descr="Vertical column divider">
            <a:extLst>
              <a:ext uri="{FF2B5EF4-FFF2-40B4-BE49-F238E27FC236}">
                <a16:creationId xmlns:a16="http://schemas.microsoft.com/office/drawing/2014/main" id="{816FB175-60BA-3D69-D46D-6F9F4961DCF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570103"/>
            <a:ext cx="0" cy="1162824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divider" descr="Vertical column divider">
            <a:extLst>
              <a:ext uri="{FF2B5EF4-FFF2-40B4-BE49-F238E27FC236}">
                <a16:creationId xmlns:a16="http://schemas.microsoft.com/office/drawing/2014/main" id="{4DC9A509-39EB-58B5-0F4D-D6005F3EFEC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2192000" y="570103"/>
            <a:ext cx="0" cy="1162824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ooter">
            <a:extLst>
              <a:ext uri="{FF2B5EF4-FFF2-40B4-BE49-F238E27FC236}">
                <a16:creationId xmlns:a16="http://schemas.microsoft.com/office/drawing/2014/main" id="{04C13F85-121B-5084-2D5D-00B9B63501C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4188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EC4870F-2BCD-D032-E9C3-B54F5E75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/>
          <a:p>
            <a:r>
              <a:rPr lang="en-US" dirty="0"/>
              <a:t>Two parallel tracks to launch readiness</a:t>
            </a:r>
          </a:p>
        </p:txBody>
      </p:sp>
      <p:sp>
        <p:nvSpPr>
          <p:cNvPr id="13" name="body_copy_title_01">
            <a:extLst>
              <a:ext uri="{FF2B5EF4-FFF2-40B4-BE49-F238E27FC236}">
                <a16:creationId xmlns:a16="http://schemas.microsoft.com/office/drawing/2014/main" id="{D9F0A87D-C393-66AC-9BA1-53B784734E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843037"/>
          </a:xfrm>
        </p:spPr>
        <p:txBody>
          <a:bodyPr/>
          <a:lstStyle/>
          <a:p>
            <a:r>
              <a:rPr lang="en-US" dirty="0"/>
              <a:t>Track 1 — limits (telemetry)</a:t>
            </a:r>
          </a:p>
        </p:txBody>
      </p:sp>
      <p:sp>
        <p:nvSpPr>
          <p:cNvPr id="10" name="body_copy_01">
            <a:extLst>
              <a:ext uri="{FF2B5EF4-FFF2-40B4-BE49-F238E27FC236}">
                <a16:creationId xmlns:a16="http://schemas.microsoft.com/office/drawing/2014/main" id="{01F55476-4EB8-A992-DE96-B2C94F1094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047999"/>
            <a:ext cx="4951413" cy="9156701"/>
          </a:xfrm>
        </p:spPr>
        <p:txBody>
          <a:bodyPr/>
          <a:lstStyle/>
          <a:p>
            <a:r>
              <a:rPr lang="en-US" dirty="0"/>
              <a:t>Confirm Sigma access and field coverage for federal/self-managed accounts.</a:t>
            </a:r>
            <a:br>
              <a:rPr lang="en-US" dirty="0"/>
            </a:br>
            <a:r>
              <a:rPr lang="en-US" dirty="0"/>
              <a:t/>
            </a:r>
          </a:p>
          <a:p>
            <a:r>
              <a:t>Pull p10/p50/p90 distributions for auth rate, concurrency, client count, CPU/RAM, and network utilization.</a:t>
            </a:r>
            <a:endParaRPr lang="en-US" dirty="0"/>
          </a:p>
          <a:p>
            <a:r>
              <a:rPr lang="en-US" dirty="0"/>
              <a:t>Reconcile the RAM-vs-network-first conflict (H3) — this is the single highest-value telemetry question for D2.</a:t>
            </a:r>
          </a:p>
          <a:p>
            <a:r>
              <a:rPr lang="en-US" dirty="0"/>
              <a:t>Map D1 ranges to three candidate tiers and bring to Sara for D1 sign-off.</a:t>
            </a:r>
          </a:p>
          <a:p>
            <a:r>
              <a:rPr lang="en-US" dirty="0"/>
              <a:t>Owner: benjamin howard. dependency: sigma access confirmation (week 1 gate).</a:t>
            </a:r>
          </a:p>
        </p:txBody>
      </p:sp>
      <p:sp>
        <p:nvSpPr>
          <p:cNvPr id="14" name="body_copy_title_02">
            <a:extLst>
              <a:ext uri="{FF2B5EF4-FFF2-40B4-BE49-F238E27FC236}">
                <a16:creationId xmlns:a16="http://schemas.microsoft.com/office/drawing/2014/main" id="{77BBAE63-9F0F-1CB2-8DF3-3050E5DC1C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43037"/>
          </a:xfrm>
        </p:spPr>
        <p:txBody>
          <a:bodyPr/>
          <a:lstStyle/>
          <a:p>
            <a:r>
              <a:rPr lang="en-US" dirty="0"/>
              <a:t>Track 2 — onboarding (customer interviews)</a:t>
            </a:r>
          </a:p>
        </p:txBody>
      </p:sp>
      <p:sp>
        <p:nvSpPr>
          <p:cNvPr id="11" name="body_copy_02">
            <a:extLst>
              <a:ext uri="{FF2B5EF4-FFF2-40B4-BE49-F238E27FC236}">
                <a16:creationId xmlns:a16="http://schemas.microsoft.com/office/drawing/2014/main" id="{194A0A48-021E-1C1D-F152-2ACF467E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80000" y="3048000"/>
            <a:ext cx="4953000" cy="9156700"/>
          </a:xfrm>
        </p:spPr>
        <p:txBody>
          <a:bodyPr/>
          <a:lstStyle/>
          <a:p>
            <a:r>
              <a:rPr lang="en-US" dirty="0"/>
              <a:t>Conduct 4–6 interviews with federal customers focused on: what blocked initial deployment, what they needed and couldn't find, and what makes cloud migration feasible.</a:t>
            </a:r>
          </a:p>
          <a:p>
            <a:r>
              <a:t>Document the onboarding workflow and identify the three highest-friction points. Scope migration tooling requirements.</a:t>
            </a:r>
            <a:endParaRPr lang="en-US" dirty="0"/>
          </a:p>
          <a:p>
            <a:r>
              <a:rPr lang="en-US" dirty="0"/>
              <a:t>Owner: benjamin howard + sara snowden. decision gate: sara confirms whether this is scoped into current discovery or a separate initiative.</a:t>
            </a:r>
          </a:p>
          <a:p>
            <a:r>
              <a:t>Recommendation: open this track now, in parallel with telemetry. Do not wait for D1–D5 to close.</a:t>
            </a:r>
            <a:endParaRPr lang="en-US" dirty="0"/>
          </a:p>
        </p:txBody>
      </p:sp>
      <p:sp>
        <p:nvSpPr>
          <p:cNvPr id="15" name="body_copy_title_03">
            <a:extLst>
              <a:ext uri="{FF2B5EF4-FFF2-40B4-BE49-F238E27FC236}">
                <a16:creationId xmlns:a16="http://schemas.microsoft.com/office/drawing/2014/main" id="{3A1D768E-B75F-C675-F3FD-0F75384064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43037"/>
          </a:xfrm>
        </p:spPr>
        <p:txBody>
          <a:bodyPr/>
          <a:lstStyle/>
          <a:p>
            <a:r>
              <a:rPr lang="en-US" dirty="0"/>
              <a:t>A note on confidence</a:t>
            </a:r>
          </a:p>
        </p:txBody>
      </p:sp>
      <p:sp>
        <p:nvSpPr>
          <p:cNvPr id="12" name="body_copy_03">
            <a:extLst>
              <a:ext uri="{FF2B5EF4-FFF2-40B4-BE49-F238E27FC236}">
                <a16:creationId xmlns:a16="http://schemas.microsoft.com/office/drawing/2014/main" id="{CB3E6BAC-ECC3-54A5-48D5-DCFE8C6C92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048000"/>
            <a:ext cx="4959350" cy="9156700"/>
          </a:xfrm>
        </p:spPr>
        <p:txBody>
          <a:bodyPr/>
          <a:lstStyle/>
          <a:p>
            <a:r>
              <a:rPr lang="en-US" dirty="0"/>
              <a:t>All current findings are medium confidence or below. two sessions, no telemetry, one advisory-only participant.</a:t>
            </a:r>
          </a:p>
          <a:p>
            <a:r>
              <a:t>This deck provides directional evidence sufficient to frame D1–D5 and open the onboarding track. It does not provide final numbers.</a:t>
            </a:r>
            <a:endParaRPr lang="en-US" dirty="0"/>
          </a:p>
          <a:p>
            <a:r>
              <a:rPr lang="en-US" dirty="0"/>
              <a:t>No D1–D5 recommendation should be finalized for executive sign-off until Sigma telemetry has been run and at least one more hands-on deployment participant has been interviewed.</a:t>
            </a:r>
          </a:p>
        </p:txBody>
      </p:sp>
      <p:sp>
        <p:nvSpPr>
          <p:cNvPr id="17" name="slide_number">
            <a:extLst>
              <a:ext uri="{FF2B5EF4-FFF2-40B4-BE49-F238E27FC236}">
                <a16:creationId xmlns:a16="http://schemas.microsoft.com/office/drawing/2014/main" id="{58CF5833-585E-7519-E029-64D6A13E3E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r>
              <a:t/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ED38F0F3-1FEC-5ABD-2108-62F2A88F1CD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77375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/>
          <a:lstStyle/>
          <a:p>
            <a:r>
              <a:rPr lang="en-US" dirty="0"/>
              <a:t>What this research is about</a:t>
            </a:r>
          </a:p>
        </p:txBody>
      </p:sp>
      <p:sp>
        <p:nvSpPr>
          <p:cNvPr id="3" name="body_copy_title_01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5" name="body_copy_01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/>
          <a:p>
            <a:r>
              <a:rPr lang="en-US" dirty="0"/>
              <a:t>Vault is launching a FedRAMP-ready offering on MCSP. the team needs credible service limits — but current evidence on how federal customers actually use vault at scale is incomplete. wrong limits create launch, reliability, and commercial risk.</a:t>
            </a:r>
            <a:br>
              <a:rPr lang="en-US" dirty="0"/>
            </a:br>
            <a:endParaRPr lang="en-US" dirty="0"/>
          </a:p>
        </p:txBody>
      </p:sp>
      <p:sp>
        <p:nvSpPr>
          <p:cNvPr id="4" name="body_copy_title_02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/>
          <a:p>
            <a:r>
              <a:rPr lang="en-US" dirty="0"/>
              <a:t>What we found</a:t>
            </a:r>
          </a:p>
        </p:txBody>
      </p:sp>
      <p:sp>
        <p:nvSpPr>
          <p:cNvPr id="6" name="body_copy_02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/>
          <a:p>
            <a:r>
              <a:rPr lang="en-US" dirty="0"/>
              <a:t>Onboarding and migration friction — not capacity limits — is the primary launch risk.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Federal workloads are machine-heavy; human logins are low and will stay low.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At least four distinct customer archetypes exist; a single global limit set over-provisions the median by more than 2x.</a:t>
            </a:r>
          </a:p>
          <a:p>
            <a:r>
              <a:t>FedRAMP presence earns market entry even for segments that cannot consume High directly.</a:t>
            </a:r>
            <a:endParaRPr lang="en-US" dirty="0"/>
          </a:p>
          <a:p>
            <a:r>
              <a:t>All D1–D5 findings are medium confidence or below — sigma telemetry is the next required gate.</a:t>
            </a:r>
            <a:endParaRPr lang="en-US" dirty="0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8" name="slide_number">
            <a:extLst>
              <a:ext uri="{FF2B5EF4-FFF2-40B4-BE49-F238E27FC236}">
                <a16:creationId xmlns:a16="http://schemas.microsoft.com/office/drawing/2014/main" id="{E052427A-70AA-F4CA-4D95-12A9702D3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r>
              <a:t/>
            </a:r>
            <a:endParaRPr lang="en-US" dirty="0"/>
          </a:p>
        </p:txBody>
      </p:sp>
      <p:cxnSp>
        <p:nvCxnSpPr>
          <p:cNvPr id="7" name="divider" descr="Vertical column divider">
            <a:extLst>
              <a:ext uri="{FF2B5EF4-FFF2-40B4-BE49-F238E27FC236}">
                <a16:creationId xmlns:a16="http://schemas.microsoft.com/office/drawing/2014/main" id="{18C396D6-9980-874A-FD6F-02FB8A0A09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Vertical column divider">
            <a:extLst>
              <a:ext uri="{FF2B5EF4-FFF2-40B4-BE49-F238E27FC236}">
                <a16:creationId xmlns:a16="http://schemas.microsoft.com/office/drawing/2014/main" id="{04931986-2A31-3061-0C31-2094D7AD32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/>
          <a:lstStyle/>
          <a:p>
            <a:r>
              <a:rPr lang="en-US" dirty="0"/>
              <a:t>Four federal customer archetypes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E2F33609-2C92-880F-C9F2-F22D27E3C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34</a:t>
            </a:fld>
            <a:r>
              <a:t/>
            </a:r>
            <a:endParaRPr lang="en-US" dirty="0"/>
          </a:p>
        </p:txBody>
      </p:sp>
      <p:cxnSp>
        <p:nvCxnSpPr>
          <p:cNvPr id="10" name="divider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577850" y="6096000"/>
            <a:ext cx="2322671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divider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92127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divider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body_copy_title_04">
            <a:extLst>
              <a:ext uri="{FF2B5EF4-FFF2-40B4-BE49-F238E27FC236}">
                <a16:creationId xmlns:a16="http://schemas.microsoft.com/office/drawing/2014/main" id="{0C0F9CC0-FD83-92E3-D68C-167484217B6B}"/>
              </a:ext>
            </a:extLst>
          </p:cNvPr>
          <p:cNvSpPr txBox="1">
            <a:spLocks/>
          </p:cNvSpPr>
          <p:nvPr/>
        </p:nvSpPr>
        <p:spPr>
          <a:xfrm>
            <a:off x="18859500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Classified / IC</a:t>
            </a:r>
          </a:p>
        </p:txBody>
      </p:sp>
      <p:sp>
        <p:nvSpPr>
          <p:cNvPr id="22" name="body_copy_04">
            <a:extLst>
              <a:ext uri="{FF2B5EF4-FFF2-40B4-BE49-F238E27FC236}">
                <a16:creationId xmlns:a16="http://schemas.microsoft.com/office/drawing/2014/main" id="{360F33CE-8663-ED1E-79EE-773174ABC7BF}"/>
              </a:ext>
            </a:extLst>
          </p:cNvPr>
          <p:cNvSpPr txBox="1">
            <a:spLocks/>
          </p:cNvSpPr>
          <p:nvPr/>
        </p:nvSpPr>
        <p:spPr>
          <a:xfrm>
            <a:off x="18859500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Per-classified-network isolation required. no cross-domain/MLS. drives vault CE proliferation. IC and financials demand single-tenant clusters.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3" name="body_copy_title_03">
            <a:extLst>
              <a:ext uri="{FF2B5EF4-FFF2-40B4-BE49-F238E27FC236}">
                <a16:creationId xmlns:a16="http://schemas.microsoft.com/office/drawing/2014/main" id="{DFA0B5B3-1DEE-79E8-1CF0-0B0786E144A6}"/>
              </a:ext>
            </a:extLst>
          </p:cNvPr>
          <p:cNvSpPr txBox="1">
            <a:spLocks/>
          </p:cNvSpPr>
          <p:nvPr/>
        </p:nvSpPr>
        <p:spPr>
          <a:xfrm>
            <a:off x="12763628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Civilian-secure</a:t>
            </a:r>
          </a:p>
        </p:txBody>
      </p:sp>
      <p:sp>
        <p:nvSpPr>
          <p:cNvPr id="24" name="body_copy_03">
            <a:extLst>
              <a:ext uri="{FF2B5EF4-FFF2-40B4-BE49-F238E27FC236}">
                <a16:creationId xmlns:a16="http://schemas.microsoft.com/office/drawing/2014/main" id="{369FB207-5FB5-FB92-8C98-46494602EAC5}"/>
              </a:ext>
            </a:extLst>
          </p:cNvPr>
          <p:cNvSpPr txBox="1">
            <a:spLocks/>
          </p:cNvSpPr>
          <p:nvPr/>
        </p:nvSpPr>
        <p:spPr>
          <a:xfrm>
            <a:off x="12763628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Irs, DHS, faa-tier. locked-down civilian agencies with seasonal spikes. RTO/RPO ~2h typical, ~10 min mission-critical. best SaaS candidates.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5" name="body_copy_title_02">
            <a:extLst>
              <a:ext uri="{FF2B5EF4-FFF2-40B4-BE49-F238E27FC236}">
                <a16:creationId xmlns:a16="http://schemas.microsoft.com/office/drawing/2014/main" id="{ED2F9DC6-1282-A92C-6FE6-0607D54AD2AE}"/>
              </a:ext>
            </a:extLst>
          </p:cNvPr>
          <p:cNvSpPr txBox="1">
            <a:spLocks/>
          </p:cNvSpPr>
          <p:nvPr/>
        </p:nvSpPr>
        <p:spPr>
          <a:xfrm>
            <a:off x="6682986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Edge / embedded</a:t>
            </a:r>
          </a:p>
        </p:txBody>
      </p:sp>
      <p:sp>
        <p:nvSpPr>
          <p:cNvPr id="26" name="body_copy_02">
            <a:extLst>
              <a:ext uri="{FF2B5EF4-FFF2-40B4-BE49-F238E27FC236}">
                <a16:creationId xmlns:a16="http://schemas.microsoft.com/office/drawing/2014/main" id="{3DD892CF-EF55-75E6-1E61-4BE92339928A}"/>
              </a:ext>
            </a:extLst>
          </p:cNvPr>
          <p:cNvSpPr txBox="1">
            <a:spLocks/>
          </p:cNvSpPr>
          <p:nvPr/>
        </p:nvSpPr>
        <p:spPr>
          <a:xfrm>
            <a:off x="6682986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Vault embedded at the edge (e.g., two-man carry kit). users never see vault. single admin. off-grid cred pulls on 30-day cadence. self-managed only.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7" name="body_copy_title_01">
            <a:extLst>
              <a:ext uri="{FF2B5EF4-FFF2-40B4-BE49-F238E27FC236}">
                <a16:creationId xmlns:a16="http://schemas.microsoft.com/office/drawing/2014/main" id="{345812CB-8D7A-28B3-7178-2A764F6B8B09}"/>
              </a:ext>
            </a:extLst>
          </p:cNvPr>
          <p:cNvSpPr txBox="1">
            <a:spLocks/>
          </p:cNvSpPr>
          <p:nvPr/>
        </p:nvSpPr>
        <p:spPr>
          <a:xfrm>
            <a:off x="587114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Established enterprise</a:t>
            </a:r>
          </a:p>
        </p:txBody>
      </p:sp>
      <p:sp>
        <p:nvSpPr>
          <p:cNvPr id="28" name="body_copy_01">
            <a:extLst>
              <a:ext uri="{FF2B5EF4-FFF2-40B4-BE49-F238E27FC236}">
                <a16:creationId xmlns:a16="http://schemas.microsoft.com/office/drawing/2014/main" id="{D4508F3B-F5D5-AE45-D99C-CBE782AE363D}"/>
              </a:ext>
            </a:extLst>
          </p:cNvPr>
          <p:cNvSpPr txBox="1">
            <a:spLocks/>
          </p:cNvSpPr>
          <p:nvPr/>
        </p:nvSpPr>
        <p:spPr>
          <a:xfrm>
            <a:off x="587114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Mature (7+ yrs), agency-wide. many nested namespaces, per-namespace admins. thousands of machine transactions during events. highest migration debt.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75BB14F-E027-AD4A-B94F-B46F7A4C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2"/>
            <a:ext cx="4949825" cy="3995928"/>
          </a:xfrm>
        </p:spPr>
        <p:txBody>
          <a:bodyPr/>
          <a:lstStyle/>
          <a:p>
            <a:r>
              <a:rPr lang="en-US" dirty="0"/>
              <a:t>Research objectives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9EA6BC34-56CE-A7CE-939E-3B33F415629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159423CD-D821-23C0-A869-C7B937916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36</a:t>
            </a:fld>
            <a:r>
              <a:t/>
            </a:r>
            <a:endParaRPr lang="en-US" dirty="0"/>
          </a:p>
        </p:txBody>
      </p:sp>
      <p:cxnSp>
        <p:nvCxnSpPr>
          <p:cNvPr id="13" name="divider" descr="Vertical column divider">
            <a:extLst>
              <a:ext uri="{FF2B5EF4-FFF2-40B4-BE49-F238E27FC236}">
                <a16:creationId xmlns:a16="http://schemas.microsoft.com/office/drawing/2014/main" id="{0A1FC618-5F1A-2B5D-EE07-198B4389672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6096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divider" descr="Vertical column divider">
            <a:extLst>
              <a:ext uri="{FF2B5EF4-FFF2-40B4-BE49-F238E27FC236}">
                <a16:creationId xmlns:a16="http://schemas.microsoft.com/office/drawing/2014/main" id="{83660264-F372-0C70-A868-BBE1B912012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2188952" y="566928"/>
            <a:ext cx="0" cy="1162824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divider" descr="Vertical column divider">
            <a:extLst>
              <a:ext uri="{FF2B5EF4-FFF2-40B4-BE49-F238E27FC236}">
                <a16:creationId xmlns:a16="http://schemas.microsoft.com/office/drawing/2014/main" id="{32E1F10B-84A4-D1CF-97C8-33416C0D7F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569913"/>
            <a:ext cx="0" cy="1162526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Horizontal row divider">
            <a:extLst>
              <a:ext uri="{FF2B5EF4-FFF2-40B4-BE49-F238E27FC236}">
                <a16:creationId xmlns:a16="http://schemas.microsoft.com/office/drawing/2014/main" id="{7C7047D2-6E81-B507-EF57-648E688410D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6096000" y="6096000"/>
            <a:ext cx="1770856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body_copy_title_02">
            <a:extLst>
              <a:ext uri="{FF2B5EF4-FFF2-40B4-BE49-F238E27FC236}">
                <a16:creationId xmlns:a16="http://schemas.microsoft.com/office/drawing/2014/main" id="{B479F60E-F84C-1A2E-1A3A-84B9EA1155F8}"/>
              </a:ext>
            </a:extLst>
          </p:cNvPr>
          <p:cNvSpPr txBox="1">
            <a:spLocks/>
          </p:cNvSpPr>
          <p:nvPr/>
        </p:nvSpPr>
        <p:spPr>
          <a:xfrm>
            <a:off x="12763628" y="576073"/>
            <a:ext cx="495922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Usage archetypes</a:t>
            </a:r>
          </a:p>
        </p:txBody>
      </p:sp>
      <p:sp>
        <p:nvSpPr>
          <p:cNvPr id="28" name="body_copy_02">
            <a:extLst>
              <a:ext uri="{FF2B5EF4-FFF2-40B4-BE49-F238E27FC236}">
                <a16:creationId xmlns:a16="http://schemas.microsoft.com/office/drawing/2014/main" id="{3A0A017E-31ED-5177-824D-7055F59F66BE}"/>
              </a:ext>
            </a:extLst>
          </p:cNvPr>
          <p:cNvSpPr txBox="1">
            <a:spLocks/>
          </p:cNvSpPr>
          <p:nvPr/>
        </p:nvSpPr>
        <p:spPr>
          <a:xfrm>
            <a:off x="12763628" y="1520826"/>
            <a:ext cx="495287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Identify distinct federal usage archetypes and map them to launch capacity tiers.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9" name="body_copy_title_03">
            <a:extLst>
              <a:ext uri="{FF2B5EF4-FFF2-40B4-BE49-F238E27FC236}">
                <a16:creationId xmlns:a16="http://schemas.microsoft.com/office/drawing/2014/main" id="{5FDC926D-FFB1-DD79-224D-FBB18E4EF30E}"/>
              </a:ext>
            </a:extLst>
          </p:cNvPr>
          <p:cNvSpPr txBox="1">
            <a:spLocks/>
          </p:cNvSpPr>
          <p:nvPr/>
        </p:nvSpPr>
        <p:spPr>
          <a:xfrm>
            <a:off x="18859502" y="570103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Scaling guidance</a:t>
            </a:r>
          </a:p>
        </p:txBody>
      </p:sp>
      <p:sp>
        <p:nvSpPr>
          <p:cNvPr id="30" name="body_copy_03">
            <a:extLst>
              <a:ext uri="{FF2B5EF4-FFF2-40B4-BE49-F238E27FC236}">
                <a16:creationId xmlns:a16="http://schemas.microsoft.com/office/drawing/2014/main" id="{ADD190B6-97F4-A846-2499-BF19134AF80E}"/>
              </a:ext>
            </a:extLst>
          </p:cNvPr>
          <p:cNvSpPr txBox="1">
            <a:spLocks/>
          </p:cNvSpPr>
          <p:nvPr/>
        </p:nvSpPr>
        <p:spPr>
          <a:xfrm>
            <a:off x="18859502" y="1514856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Define threshold-based scaling guidance — when to add capacity vs. create new clusters.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31" name="body_copy_title_06">
            <a:extLst>
              <a:ext uri="{FF2B5EF4-FFF2-40B4-BE49-F238E27FC236}">
                <a16:creationId xmlns:a16="http://schemas.microsoft.com/office/drawing/2014/main" id="{D4ABE93B-1A85-2EF4-76BD-7FC866186C08}"/>
              </a:ext>
            </a:extLst>
          </p:cNvPr>
          <p:cNvSpPr txBox="1">
            <a:spLocks/>
          </p:cNvSpPr>
          <p:nvPr/>
        </p:nvSpPr>
        <p:spPr>
          <a:xfrm>
            <a:off x="18859500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Recommendation matrix</a:t>
            </a:r>
          </a:p>
        </p:txBody>
      </p:sp>
      <p:sp>
        <p:nvSpPr>
          <p:cNvPr id="32" name="body_copy_06">
            <a:extLst>
              <a:ext uri="{FF2B5EF4-FFF2-40B4-BE49-F238E27FC236}">
                <a16:creationId xmlns:a16="http://schemas.microsoft.com/office/drawing/2014/main" id="{53311CCD-0306-8FFE-BE11-1375674E9D6C}"/>
              </a:ext>
            </a:extLst>
          </p:cNvPr>
          <p:cNvSpPr txBox="1">
            <a:spLocks/>
          </p:cNvSpPr>
          <p:nvPr/>
        </p:nvSpPr>
        <p:spPr>
          <a:xfrm>
            <a:off x="18859500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Provide a clear recommendation matrix that supports executive sign-off on initial service limits.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33" name="body_copy_title_05">
            <a:extLst>
              <a:ext uri="{FF2B5EF4-FFF2-40B4-BE49-F238E27FC236}">
                <a16:creationId xmlns:a16="http://schemas.microsoft.com/office/drawing/2014/main" id="{AA280DEC-FF5E-30CD-A267-396DF6BC11AB}"/>
              </a:ext>
            </a:extLst>
          </p:cNvPr>
          <p:cNvSpPr txBox="1">
            <a:spLocks/>
          </p:cNvSpPr>
          <p:nvPr/>
        </p:nvSpPr>
        <p:spPr>
          <a:xfrm>
            <a:off x="12763628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Launch risks</a:t>
            </a:r>
          </a:p>
        </p:txBody>
      </p:sp>
      <p:sp>
        <p:nvSpPr>
          <p:cNvPr id="34" name="body_copy_05">
            <a:extLst>
              <a:ext uri="{FF2B5EF4-FFF2-40B4-BE49-F238E27FC236}">
                <a16:creationId xmlns:a16="http://schemas.microsoft.com/office/drawing/2014/main" id="{4FE6C752-A485-B753-C33B-2D3F27AD5916}"/>
              </a:ext>
            </a:extLst>
          </p:cNvPr>
          <p:cNvSpPr txBox="1">
            <a:spLocks/>
          </p:cNvSpPr>
          <p:nvPr/>
        </p:nvSpPr>
        <p:spPr>
          <a:xfrm>
            <a:off x="12763628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Surface launch-critical risks, dependencies, and mitigations tied to FedRAMP operating constraints.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35" name="body_copy_title_04">
            <a:extLst>
              <a:ext uri="{FF2B5EF4-FFF2-40B4-BE49-F238E27FC236}">
                <a16:creationId xmlns:a16="http://schemas.microsoft.com/office/drawing/2014/main" id="{7032C9E3-86C1-9395-F581-AAE817B8FEDF}"/>
              </a:ext>
            </a:extLst>
          </p:cNvPr>
          <p:cNvSpPr txBox="1">
            <a:spLocks/>
          </p:cNvSpPr>
          <p:nvPr/>
        </p:nvSpPr>
        <p:spPr>
          <a:xfrm>
            <a:off x="6682986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Validate assumptions</a:t>
            </a:r>
          </a:p>
        </p:txBody>
      </p:sp>
      <p:sp>
        <p:nvSpPr>
          <p:cNvPr id="36" name="body_copy_04">
            <a:extLst>
              <a:ext uri="{FF2B5EF4-FFF2-40B4-BE49-F238E27FC236}">
                <a16:creationId xmlns:a16="http://schemas.microsoft.com/office/drawing/2014/main" id="{EE961C4F-9715-B34E-28B6-D6A2D5C80001}"/>
              </a:ext>
            </a:extLst>
          </p:cNvPr>
          <p:cNvSpPr txBox="1">
            <a:spLocks/>
          </p:cNvSpPr>
          <p:nvPr/>
        </p:nvSpPr>
        <p:spPr>
          <a:xfrm>
            <a:off x="6682986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Validate or reject current anecdotal assumptions with traceable evidence and confidence levels.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37" name="body_copy_title_01">
            <a:extLst>
              <a:ext uri="{FF2B5EF4-FFF2-40B4-BE49-F238E27FC236}">
                <a16:creationId xmlns:a16="http://schemas.microsoft.com/office/drawing/2014/main" id="{0E478DD7-F34D-BB29-7432-CFDE70E8965D}"/>
              </a:ext>
            </a:extLst>
          </p:cNvPr>
          <p:cNvSpPr txBox="1">
            <a:spLocks/>
          </p:cNvSpPr>
          <p:nvPr/>
        </p:nvSpPr>
        <p:spPr>
          <a:xfrm>
            <a:off x="6682986" y="563753"/>
            <a:ext cx="495922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Workload ranges</a:t>
            </a:r>
          </a:p>
        </p:txBody>
      </p:sp>
      <p:sp>
        <p:nvSpPr>
          <p:cNvPr id="38" name="body_copy_01">
            <a:extLst>
              <a:ext uri="{FF2B5EF4-FFF2-40B4-BE49-F238E27FC236}">
                <a16:creationId xmlns:a16="http://schemas.microsoft.com/office/drawing/2014/main" id="{5DE07C6D-2310-1959-744F-2166345D28BB}"/>
              </a:ext>
            </a:extLst>
          </p:cNvPr>
          <p:cNvSpPr txBox="1">
            <a:spLocks/>
          </p:cNvSpPr>
          <p:nvPr/>
        </p:nvSpPr>
        <p:spPr>
          <a:xfrm>
            <a:off x="6682986" y="1508506"/>
            <a:ext cx="495287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Quantify realistic ranges for federal Vault use: users, machines, apps, auth rate, concurrency, and throughput.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40815371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47AEEA3-344B-AF69-F6F3-BDFB91E0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3"/>
            <a:ext cx="4949825" cy="3995928"/>
          </a:xfrm>
        </p:spPr>
        <p:txBody>
          <a:bodyPr/>
          <a:lstStyle/>
          <a:p>
            <a:r>
              <a:rPr lang="en-US" dirty="0"/>
              <a:t>Launch decisions: what the field tells us</a:t>
            </a:r>
          </a:p>
        </p:txBody>
      </p:sp>
      <p:graphicFrame>
        <p:nvGraphicFramePr>
          <p:cNvPr id="4" name="table" descr="Sample table">
            <a:extLst>
              <a:ext uri="{FF2B5EF4-FFF2-40B4-BE49-F238E27FC236}">
                <a16:creationId xmlns:a16="http://schemas.microsoft.com/office/drawing/2014/main" id="{622F17E9-C8B2-FB22-55A1-53E4FE1ECD63}"/>
              </a:ext>
            </a:extLst>
          </p:cNvPr>
          <p:cNvGraphicFramePr>
            <a:graphicFrameLocks noGrp="1"/>
          </p:cNvGraphicFramePr>
          <p:nvPr>
            <p:ph type="tbl" sz="quarter" idx="11"/>
            <p:extLst>
              <p:ext uri="{D42A27DB-BD31-4B8C-83A1-F6EECF244321}">
                <p14:modId xmlns:p14="http://schemas.microsoft.com/office/powerpoint/2010/main" val="3344193417"/>
              </p:ext>
            </p:extLst>
          </p:nvPr>
        </p:nvGraphicFramePr>
        <p:xfrm>
          <a:off x="6667500" y="576263"/>
          <a:ext cx="17144997" cy="10427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7193">
                  <a:extLst>
                    <a:ext uri="{9D8B030D-6E8A-4147-A177-3AD203B41FA5}">
                      <a16:colId xmlns:a16="http://schemas.microsoft.com/office/drawing/2014/main" val="2263625543"/>
                    </a:ext>
                  </a:extLst>
                </a:gridCol>
                <a:gridCol w="6088566">
                  <a:extLst>
                    <a:ext uri="{9D8B030D-6E8A-4147-A177-3AD203B41FA5}">
                      <a16:colId xmlns:a16="http://schemas.microsoft.com/office/drawing/2014/main" val="3641785494"/>
                    </a:ext>
                  </a:extLst>
                </a:gridCol>
                <a:gridCol w="4989238">
                  <a:extLst>
                    <a:ext uri="{9D8B030D-6E8A-4147-A177-3AD203B41FA5}">
                      <a16:colId xmlns:a16="http://schemas.microsoft.com/office/drawing/2014/main" val="3074405237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Medm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Decision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Medm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Best-available evidence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Medm" panose="020B0503050203000203" pitchFamily="34" charset="0"/>
                          <a:ea typeface="+mn-ea"/>
                          <a:cs typeface="+mn-cs"/>
                          <a:sym typeface="IBM Plex Sans"/>
                        </a:rPr>
                        <a:t>Confidence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06712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D1 — Limit envelope by tier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Starter: 100–200 clients. Large: ~1,000. Human users: 3–15. Machine auth: 300–500 typical, thousands at peak. Auth rate: 50–90/min baseline, hundreds/min at peak. Namespaces: 2–3 typical, 12+ large. Secrets engines: 2–6.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Medium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326463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D2 — Default cluster sizing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Scale-up (RAM + CPU) is the default; rarely hits resource limits. Network bandwidth saturates before CPU/RAM per field — contradicts prior RAM-first assumption. Transit-engine absence cited as reason no saturation seen.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Medium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331669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D3 — Scale response policy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Scale-up existing cluster first; scale-out only as fallback. New clusters are planned in advance or forced by classified-network isolation (no cross-domain/MLS). Growth is flat for most civilian accounts; pre-scoped at deal time.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Medium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49943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D4 — SLA and reliability by segment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RTO/RPO under ~2h for most agencies. ~10 min for mission-critical (e.g., FAA flight systems). Mission-critical workloads will stay self-managed — SaaS targets mission-essential and below. DR is standard; most deployments include PR + DR.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Low / Medium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53278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D5 — Launch blockers vs backlog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No single feature deal-killer. Key management and transit can be deferred (same as early HCP). Primary risk: networking / cloud peering and automation distrust. FedRAMP presence alone earns marketplace visibility and inbound credibility — even IC customers ask if HCP is FedRAMP-compliant.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>Low / Medium</a:t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08448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761279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18368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605545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67515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19816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6498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170527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829287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cap="none" spc="0" baseline="0" dirty="0">
                          <a:solidFill>
                            <a:schemeClr val="lt1"/>
                          </a:solidFill>
                          <a:effectLst/>
                          <a:uFillTx/>
                          <a:latin typeface="IBM Plex Sans Light" panose="020B0403050203000203" pitchFamily="34" charset="0"/>
                          <a:ea typeface="+mn-ea"/>
                          <a:cs typeface="+mn-cs"/>
                          <a:sym typeface="IBM Plex Sans"/>
                        </a:rPr>
                        <a:t/>
                      </a:r>
                    </a:p>
                  </a:txBody>
                  <a:tcPr marT="182880" marB="18288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694656"/>
                  </a:ext>
                </a:extLst>
              </a:tr>
            </a:tbl>
          </a:graphicData>
        </a:graphic>
      </p:graphicFrame>
      <p:sp>
        <p:nvSpPr>
          <p:cNvPr id="8" name="footer">
            <a:extLst>
              <a:ext uri="{FF2B5EF4-FFF2-40B4-BE49-F238E27FC236}">
                <a16:creationId xmlns:a16="http://schemas.microsoft.com/office/drawing/2014/main" id="{4736967F-922F-8D68-00DB-7DE21657DC1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7" name="slide_number">
            <a:extLst>
              <a:ext uri="{FF2B5EF4-FFF2-40B4-BE49-F238E27FC236}">
                <a16:creationId xmlns:a16="http://schemas.microsoft.com/office/drawing/2014/main" id="{B19A6833-0DD1-F795-5289-975A410E59D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46</a:t>
            </a:fld>
            <a:r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300952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78E557B-4778-558E-214E-2CA96173A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576071"/>
            <a:ext cx="4949825" cy="2468753"/>
          </a:xfrm>
        </p:spPr>
        <p:txBody>
          <a:bodyPr/>
          <a:lstStyle/>
          <a:p>
            <a:r>
              <a:rPr lang="en-US" dirty="0"/>
              <a:t/>
            </a:r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6833E0BC-472C-8D4D-5EEF-7483ED0BCA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3" name="slide_number">
            <a:extLst>
              <a:ext uri="{FF2B5EF4-FFF2-40B4-BE49-F238E27FC236}">
                <a16:creationId xmlns:a16="http://schemas.microsoft.com/office/drawing/2014/main" id="{F3BE8036-037D-5BB3-CE38-5AFD2388CA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47</a:t>
            </a:fld>
            <a:r>
              <a:t/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325406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/>
          <a:lstStyle/>
          <a:p>
            <a:r>
              <a:rPr lang="en-US" dirty="0"/>
              <a:t>How this research was conducted</a:t>
            </a:r>
          </a:p>
        </p:txBody>
      </p:sp>
      <p:sp>
        <p:nvSpPr>
          <p:cNvPr id="3" name="body_copy_title_01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/>
          <a:p>
            <a:r>
              <a:rPr lang="en-US" dirty="0"/>
              <a:t>What we studied</a:t>
            </a:r>
          </a:p>
        </p:txBody>
      </p:sp>
      <p:sp>
        <p:nvSpPr>
          <p:cNvPr id="5" name="body_copy_01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/>
          <a:p>
            <a:r>
              <a:rPr lang="en-US" dirty="0"/>
              <a:t>Two 45–67 min internal interviews with public-sector solutions engineers covering all federal segments: DoD, civilian (DHS, FAA, DOJ), IC, and state/local.</a:t>
            </a:r>
            <a:br>
              <a:rPr lang="en-US" dirty="0"/>
            </a:br>
            <a:endParaRPr lang="en-US" dirty="0"/>
          </a:p>
          <a:p>
            <a:r>
              <a:rPr lang="en-US" dirty="0"/>
              <a:t>federal rfis analyzed across army, air force, DISA, and defense industry for demand signals, constraint clauses, and SLA language.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All findings are self-report or advisory, capped at medium confidence pending sigma telemetry anchoring. no claim in this deck exceeds medium confidence on its own.</a:t>
            </a:r>
          </a:p>
        </p:txBody>
      </p:sp>
      <p:sp>
        <p:nvSpPr>
          <p:cNvPr id="4" name="body_copy_title_02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/>
          <a:p>
            <a:r>
              <a:rPr lang="en-US" dirty="0"/>
              <a:t>Who we talked to</a:t>
            </a:r>
          </a:p>
        </p:txBody>
      </p:sp>
      <p:sp>
        <p:nvSpPr>
          <p:cNvPr id="6" name="body_copy_02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/>
          <a:p>
            <a:r>
              <a:rPr lang="en-US" dirty="0"/>
              <a:t>Tim olson — SE, public sector, 7+ yrs. direct exposure across dod, civilian, IC, and state/local. hands-on through deployment and onboarding.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Tim silk — manager, public-sector pre-sales. frames market needs and funnels them to product. ~5 yrs.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Luke mccleary — SE, civilian accounts. covers DHS, FAA, DOJ. largest federal renewal base, ~$6M ARR. advisory role; no hands-on deployment.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8" name="slide_number">
            <a:extLst>
              <a:ext uri="{FF2B5EF4-FFF2-40B4-BE49-F238E27FC236}">
                <a16:creationId xmlns:a16="http://schemas.microsoft.com/office/drawing/2014/main" id="{E052427A-70AA-F4CA-4D95-12A9702D3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r>
              <a:t/>
            </a:r>
            <a:endParaRPr lang="en-US" dirty="0"/>
          </a:p>
        </p:txBody>
      </p:sp>
      <p:cxnSp>
        <p:nvCxnSpPr>
          <p:cNvPr id="7" name="divider" descr="Vertical column divider">
            <a:extLst>
              <a:ext uri="{FF2B5EF4-FFF2-40B4-BE49-F238E27FC236}">
                <a16:creationId xmlns:a16="http://schemas.microsoft.com/office/drawing/2014/main" id="{18C396D6-9980-874A-FD6F-02FB8A0A09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Vertical column divider">
            <a:extLst>
              <a:ext uri="{FF2B5EF4-FFF2-40B4-BE49-F238E27FC236}">
                <a16:creationId xmlns:a16="http://schemas.microsoft.com/office/drawing/2014/main" id="{04931986-2A31-3061-0C31-2094D7AD32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/>
          <a:lstStyle/>
          <a:p>
            <a:r>
              <a:rPr lang="en-US" dirty="0"/>
              <a:t>Why this changes the launch readiness picture</a:t>
            </a:r>
          </a:p>
        </p:txBody>
      </p:sp>
      <p:sp>
        <p:nvSpPr>
          <p:cNvPr id="3" name="body_copy_title_01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/>
          <a:p>
            <a:r>
              <a:rPr lang="en-US" dirty="0"/>
              <a:t>What the field observed</a:t>
            </a:r>
          </a:p>
        </p:txBody>
      </p:sp>
      <p:sp>
        <p:nvSpPr>
          <p:cNvPr id="5" name="body_copy_01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/>
          <a:p>
            <a:r>
              <a:rPr lang="en-US" dirty="0"/>
              <a:t>No customer in Luke's base — including a 30,000-license account on a 5-node cluster — has ever hit a performance limit.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Deals at the department of energy have renewed for five years without ever deploying.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product has no usability-focused onboarding: no wizards, no migration tooling, no guided setup. Customers are given a free-for-all and expected to figure it out.</a:t>
            </a:r>
          </a:p>
          <a:p>
            <a:r>
              <a:rPr lang="en-US" dirty="0"/>
              <a:t>Migration from self-managed to cloud is so painful one customer took three years. This is the primary blocker to federal cloud adoption — not feature gaps.</a:t>
            </a:r>
          </a:p>
        </p:txBody>
      </p:sp>
      <p:sp>
        <p:nvSpPr>
          <p:cNvPr id="4" name="body_copy_title_02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/>
          <a:p>
            <a:r>
              <a:rPr lang="en-US" dirty="0"/>
              <a:t>What it means for launch</a:t>
            </a:r>
          </a:p>
        </p:txBody>
      </p:sp>
      <p:sp>
        <p:nvSpPr>
          <p:cNvPr id="6" name="body_copy_02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/>
          <a:p>
            <a:r>
              <a:rPr lang="en-US" dirty="0"/>
              <a:t>Capacity limits are necessary but not sufficient. Setting the right limits without removing onboarding friction means customers will acquire the service and not deploy it.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does not mean limits work stops. It means a second parallel track is needed: understanding what onboarding workflows federal customers actually need.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two tracks are complementary. limits define what the service can handle. onboarding determines whether customers ever get there.</a:t>
            </a:r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8" name="slide_number">
            <a:extLst>
              <a:ext uri="{FF2B5EF4-FFF2-40B4-BE49-F238E27FC236}">
                <a16:creationId xmlns:a16="http://schemas.microsoft.com/office/drawing/2014/main" id="{E052427A-70AA-F4CA-4D95-12A9702D3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r>
              <a:t/>
            </a:r>
            <a:endParaRPr lang="en-US" dirty="0"/>
          </a:p>
        </p:txBody>
      </p:sp>
      <p:cxnSp>
        <p:nvCxnSpPr>
          <p:cNvPr id="7" name="divider" descr="Vertical column divider">
            <a:extLst>
              <a:ext uri="{FF2B5EF4-FFF2-40B4-BE49-F238E27FC236}">
                <a16:creationId xmlns:a16="http://schemas.microsoft.com/office/drawing/2014/main" id="{18C396D6-9980-874A-FD6F-02FB8A0A09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Vertical column divider">
            <a:extLst>
              <a:ext uri="{FF2B5EF4-FFF2-40B4-BE49-F238E27FC236}">
                <a16:creationId xmlns:a16="http://schemas.microsoft.com/office/drawing/2014/main" id="{04931986-2A31-3061-0C31-2094D7AD32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42913" cy="2663825"/>
          </a:xfrm>
        </p:spPr>
        <p:txBody>
          <a:bodyPr/>
          <a:lstStyle/>
          <a:p>
            <a:r>
              <a:rPr lang="en-US" dirty="0"/>
              <a:t>D1–D5 best-available evidence</a:t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41794889-6D85-5EF1-D228-19EEF3359F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6</a:t>
            </a:fld>
            <a:r>
              <a:t/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58058FD-55FE-14C2-54F7-4C716F103C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9476" cy="4210176"/>
          </a:xfrm>
        </p:spPr>
        <p:txBody>
          <a:bodyPr/>
          <a:lstStyle/>
          <a:p>
            <a:r>
              <a:rPr lang="en-US" dirty="0"/>
              <a:t>What we can act on now vs. what needs telemetry</a:t>
            </a:r>
          </a:p>
        </p:txBody>
      </p:sp>
      <p:sp>
        <p:nvSpPr>
          <p:cNvPr id="3" name="body_copy_title_01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80000" y="576072"/>
            <a:ext cx="4953000" cy="1877761"/>
          </a:xfrm>
        </p:spPr>
        <p:txBody>
          <a:bodyPr/>
          <a:lstStyle/>
          <a:p>
            <a:r>
              <a:rPr lang="en-US" dirty="0"/>
              <a:t>Directionally solid — act on now</a:t>
            </a:r>
          </a:p>
        </p:txBody>
      </p:sp>
      <p:sp>
        <p:nvSpPr>
          <p:cNvPr id="5" name="body_copy_01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80000" y="3047999"/>
            <a:ext cx="4953000" cy="9153525"/>
          </a:xfrm>
        </p:spPr>
        <p:txBody>
          <a:bodyPr/>
          <a:lstStyle/>
          <a:p>
            <a:r>
              <a:rPr lang="en-US" dirty="0"/>
              <a:t>Machine-heavy pattern confirmed across both sessions and RFI NPE framing. Human logins will remain low relative to machine auth.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Multi-tier limits are needed. Four archetypes emerged independently; one global limit over-provisions the median by more than 2x.</a:t>
            </a:r>
            <a:br>
              <a:rPr lang="en-US" dirty="0"/>
            </a:br>
            <a:endParaRPr lang="en-US" dirty="0"/>
          </a:p>
          <a:p>
            <a:r>
              <a:rPr lang="en-US" dirty="0"/>
              <a:t>Tenancy default is dedicated nodes; single-tenant for IC and financials; low-resource variant for sciences agencies.</a:t>
            </a:r>
          </a:p>
          <a:p>
            <a:r>
              <a:rPr lang="en-US" dirty="0"/>
              <a:t>FedRAMP presence earns marketplace visibility and inbound interest even from segments that cannot consume High directly.</a:t>
            </a:r>
          </a:p>
          <a:p>
            <a:r>
              <a:rPr lang="en-US" dirty="0"/>
              <a:t>Onboarding and migration friction is the primary adoption risk. Consistent across both sessions and the 6/04 sync.</a:t>
            </a:r>
          </a:p>
        </p:txBody>
      </p:sp>
      <p:sp>
        <p:nvSpPr>
          <p:cNvPr id="4" name="body_copy_title_02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877761"/>
          </a:xfrm>
        </p:spPr>
        <p:txBody>
          <a:bodyPr/>
          <a:lstStyle/>
          <a:p>
            <a:r>
              <a:rPr lang="en-US" dirty="0"/>
              <a:t>Telemetry-dependent — do not finalize yet</a:t>
            </a:r>
          </a:p>
        </p:txBody>
      </p:sp>
      <p:sp>
        <p:nvSpPr>
          <p:cNvPr id="6" name="body_copy_02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047999"/>
            <a:ext cx="4953000" cy="9153524"/>
          </a:xfrm>
        </p:spPr>
        <p:txBody>
          <a:bodyPr/>
          <a:lstStyle/>
          <a:p>
            <a:r>
              <a:rPr lang="en-US" dirty="0"/>
              <a:t>D1 numeric limits — anchor all ranges against Sigma p10/p50/p90 before publishing.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D2 guardrails — resolve RAM-vs-network-first conflict via telemetry before finalizing cluster sizing.</a:t>
            </a:r>
            <a:br>
              <a:rPr lang="en-US" dirty="0"/>
            </a:br>
            <a:endParaRPr lang="en-US" dirty="0"/>
          </a:p>
          <a:p>
            <a:r>
              <a:rPr lang="en-US" dirty="0"/>
              <a:t>D3 scaling trigger — map MCSP ~500-worker-node ceiling against archetype usage patterns.</a:t>
            </a:r>
          </a:p>
          <a:p>
            <a:r>
              <a:t>D4 SLA targets — design-intent RTO/RPO needs behavioral data. AFTAC 99.99% is a useful DoD reference but is a procurement statement only.</a:t>
            </a:r>
            <a:endParaRPr lang="en-US" dirty="0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8" name="slide_number">
            <a:extLst>
              <a:ext uri="{FF2B5EF4-FFF2-40B4-BE49-F238E27FC236}">
                <a16:creationId xmlns:a16="http://schemas.microsoft.com/office/drawing/2014/main" id="{E052427A-70AA-F4CA-4D95-12A9702D33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24</a:t>
            </a:fld>
            <a:r>
              <a:t/>
            </a:r>
            <a:endParaRPr lang="en-US" dirty="0"/>
          </a:p>
        </p:txBody>
      </p:sp>
      <p:cxnSp>
        <p:nvCxnSpPr>
          <p:cNvPr id="7" name="divider" descr="Vertical column divider">
            <a:extLst>
              <a:ext uri="{FF2B5EF4-FFF2-40B4-BE49-F238E27FC236}">
                <a16:creationId xmlns:a16="http://schemas.microsoft.com/office/drawing/2014/main" id="{18C396D6-9980-874A-FD6F-02FB8A0A09E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2192127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Vertical column divider">
            <a:extLst>
              <a:ext uri="{FF2B5EF4-FFF2-40B4-BE49-F238E27FC236}">
                <a16:creationId xmlns:a16="http://schemas.microsoft.com/office/drawing/2014/main" id="{04931986-2A31-3061-0C31-2094D7AD3250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570103"/>
            <a:ext cx="0" cy="11625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42913" cy="2663825"/>
          </a:xfrm>
        </p:spPr>
        <p:txBody>
          <a:bodyPr/>
          <a:lstStyle/>
          <a:p>
            <a:r>
              <a:rPr lang="en-US" dirty="0"/>
              <a:t>Recommendations and next steps</a:t>
            </a:r>
            <a:br>
              <a:rPr lang="en-US" dirty="0"/>
            </a:br>
            <a:r>
              <a:rPr lang="en-US" dirty="0"/>
              <a:t/>
            </a:r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41794889-6D85-5EF1-D228-19EEF3359F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6</a:t>
            </a:fld>
            <a:r>
              <a:t/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758058FD-55FE-14C2-54F7-4C716F103C0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00" y="384048"/>
            <a:ext cx="11036994" cy="4210177"/>
          </a:xfrm>
        </p:spPr>
        <p:txBody>
          <a:bodyPr/>
          <a:lstStyle/>
          <a:p>
            <a:r>
              <a:rPr lang="en-US" dirty="0"/>
              <a:t>Open questions for this readout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00" y="12816000"/>
            <a:ext cx="4956176" cy="381000"/>
          </a:xfrm>
        </p:spPr>
        <p:txBody>
          <a:bodyPr/>
          <a:lstStyle/>
          <a:p>
            <a:r>
              <a:t>IBM Confidential</a:t>
            </a:r>
            <a:endParaRPr lang="en-US" dirty="0"/>
          </a:p>
        </p:txBody>
      </p:sp>
      <p:sp>
        <p:nvSpPr>
          <p:cNvPr id="9" name="slide_number">
            <a:extLst>
              <a:ext uri="{FF2B5EF4-FFF2-40B4-BE49-F238E27FC236}">
                <a16:creationId xmlns:a16="http://schemas.microsoft.com/office/drawing/2014/main" id="{E2F33609-2C92-880F-C9F2-F22D27E3C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541592" y="12951538"/>
            <a:ext cx="270908" cy="24622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34</a:t>
            </a:fld>
            <a:r>
              <a:t/>
            </a:r>
            <a:endParaRPr lang="en-US" dirty="0"/>
          </a:p>
        </p:txBody>
      </p:sp>
      <p:cxnSp>
        <p:nvCxnSpPr>
          <p:cNvPr id="10" name="divider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577850" y="6096000"/>
            <a:ext cx="23226713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divider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6096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divider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92127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divider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 bwMode="auto">
          <a:xfrm>
            <a:off x="18288000" y="6096000"/>
            <a:ext cx="0" cy="6099175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body_copy_title_04">
            <a:extLst>
              <a:ext uri="{FF2B5EF4-FFF2-40B4-BE49-F238E27FC236}">
                <a16:creationId xmlns:a16="http://schemas.microsoft.com/office/drawing/2014/main" id="{0C0F9CC0-FD83-92E3-D68C-167484217B6B}"/>
              </a:ext>
            </a:extLst>
          </p:cNvPr>
          <p:cNvSpPr txBox="1">
            <a:spLocks/>
          </p:cNvSpPr>
          <p:nvPr/>
        </p:nvSpPr>
        <p:spPr>
          <a:xfrm>
            <a:off x="18859500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Dan Fedick interview</a:t>
            </a:r>
          </a:p>
        </p:txBody>
      </p:sp>
      <p:sp>
        <p:nvSpPr>
          <p:cNvPr id="22" name="body_copy_04">
            <a:extLst>
              <a:ext uri="{FF2B5EF4-FFF2-40B4-BE49-F238E27FC236}">
                <a16:creationId xmlns:a16="http://schemas.microsoft.com/office/drawing/2014/main" id="{360F33CE-8663-ED1E-79EE-773174ABC7BF}"/>
              </a:ext>
            </a:extLst>
          </p:cNvPr>
          <p:cNvSpPr txBox="1">
            <a:spLocks/>
          </p:cNvSpPr>
          <p:nvPr/>
        </p:nvSpPr>
        <p:spPr>
          <a:xfrm>
            <a:off x="18859500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Tim olson recommended dan fedick (federal field CTO, former air force) as the highest-value next participant. should he be recruited before or after sigma analysis?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3" name="body_copy_title_03">
            <a:extLst>
              <a:ext uri="{FF2B5EF4-FFF2-40B4-BE49-F238E27FC236}">
                <a16:creationId xmlns:a16="http://schemas.microsoft.com/office/drawing/2014/main" id="{DFA0B5B3-1DEE-79E8-1CF0-0B0786E144A6}"/>
              </a:ext>
            </a:extLst>
          </p:cNvPr>
          <p:cNvSpPr txBox="1">
            <a:spLocks/>
          </p:cNvSpPr>
          <p:nvPr/>
        </p:nvSpPr>
        <p:spPr>
          <a:xfrm>
            <a:off x="12763628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Tenancy model decision</a:t>
            </a:r>
          </a:p>
        </p:txBody>
      </p:sp>
      <p:sp>
        <p:nvSpPr>
          <p:cNvPr id="24" name="body_copy_03">
            <a:extLst>
              <a:ext uri="{FF2B5EF4-FFF2-40B4-BE49-F238E27FC236}">
                <a16:creationId xmlns:a16="http://schemas.microsoft.com/office/drawing/2014/main" id="{369FB207-5FB5-FB92-8C98-46494602EAC5}"/>
              </a:ext>
            </a:extLst>
          </p:cNvPr>
          <p:cNvSpPr txBox="1">
            <a:spLocks/>
          </p:cNvSpPr>
          <p:nvPr/>
        </p:nvSpPr>
        <p:spPr>
          <a:xfrm>
            <a:off x="12763628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Three tenancy tiers: shared, dedicated nodes (default), single-tenant (IC/financials). does engineering need this before architecture decisions?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5" name="body_copy_title_02">
            <a:extLst>
              <a:ext uri="{FF2B5EF4-FFF2-40B4-BE49-F238E27FC236}">
                <a16:creationId xmlns:a16="http://schemas.microsoft.com/office/drawing/2014/main" id="{ED2F9DC6-1282-A92C-6FE6-0607D54AD2AE}"/>
              </a:ext>
            </a:extLst>
          </p:cNvPr>
          <p:cNvSpPr txBox="1">
            <a:spLocks/>
          </p:cNvSpPr>
          <p:nvPr/>
        </p:nvSpPr>
        <p:spPr>
          <a:xfrm>
            <a:off x="6682986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Sigma access status</a:t>
            </a:r>
          </a:p>
        </p:txBody>
      </p:sp>
      <p:sp>
        <p:nvSpPr>
          <p:cNvPr id="26" name="body_copy_02">
            <a:extLst>
              <a:ext uri="{FF2B5EF4-FFF2-40B4-BE49-F238E27FC236}">
                <a16:creationId xmlns:a16="http://schemas.microsoft.com/office/drawing/2014/main" id="{3DD892CF-EF55-75E6-1E61-4BE92339928A}"/>
              </a:ext>
            </a:extLst>
          </p:cNvPr>
          <p:cNvSpPr txBox="1">
            <a:spLocks/>
          </p:cNvSpPr>
          <p:nvPr/>
        </p:nvSpPr>
        <p:spPr>
          <a:xfrm>
            <a:off x="6682986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Has the week 1 telemetry pre-check completed? are federal/self-managed accounts in scope? do required fields (CPU/RAM/network/auth rate) exist in sigma?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  <p:sp>
        <p:nvSpPr>
          <p:cNvPr id="27" name="body_copy_title_01">
            <a:extLst>
              <a:ext uri="{FF2B5EF4-FFF2-40B4-BE49-F238E27FC236}">
                <a16:creationId xmlns:a16="http://schemas.microsoft.com/office/drawing/2014/main" id="{345812CB-8D7A-28B3-7178-2A764F6B8B09}"/>
              </a:ext>
            </a:extLst>
          </p:cNvPr>
          <p:cNvSpPr txBox="1">
            <a:spLocks/>
          </p:cNvSpPr>
          <p:nvPr/>
        </p:nvSpPr>
        <p:spPr>
          <a:xfrm>
            <a:off x="587114" y="6679821"/>
            <a:ext cx="4945062" cy="46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accent1"/>
                </a:solidFill>
              </a:rPr>
              <a:t>Onboarding track scope</a:t>
            </a:r>
          </a:p>
        </p:txBody>
      </p:sp>
      <p:sp>
        <p:nvSpPr>
          <p:cNvPr id="28" name="body_copy_01">
            <a:extLst>
              <a:ext uri="{FF2B5EF4-FFF2-40B4-BE49-F238E27FC236}">
                <a16:creationId xmlns:a16="http://schemas.microsoft.com/office/drawing/2014/main" id="{D4508F3B-F5D5-AE45-D99C-CBE782AE363D}"/>
              </a:ext>
            </a:extLst>
          </p:cNvPr>
          <p:cNvSpPr txBox="1">
            <a:spLocks/>
          </p:cNvSpPr>
          <p:nvPr/>
        </p:nvSpPr>
        <p:spPr>
          <a:xfrm>
            <a:off x="587114" y="7624574"/>
            <a:ext cx="4945062" cy="400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IBM Plex Sans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IBM Plex Sans Light" panose="020B04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/>
              <a:t>Should the onboarding interview track be scoped into current discovery or flagged as a separate initiative? who owns recruiting — benjamin, sara, or field leads?</a:t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  <a:r>
              <a:rPr lang="en-US" kern="0" dirty="0" err="1"/>
              <a:t/>
            </a:r>
            <a:r>
              <a:rPr lang="en-US" kern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1730368918050" id="{F04CA754-BE2C-4040-86D4-DB285EA1B18A}" vid="{1A6545FA-9223-B648-866A-185DFA4B43D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2629</TotalTime>
  <Words>13177</Words>
  <Application>Microsoft Macintosh PowerPoint</Application>
  <PresentationFormat>Custom</PresentationFormat>
  <Paragraphs>1057</Paragraphs>
  <Slides>18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IBM Plex Sans</vt:lpstr>
      <vt:lpstr>IBM Plex Sans ExtLt</vt:lpstr>
      <vt:lpstr>IBM Plex Sans Light</vt:lpstr>
      <vt:lpstr>IBM Plex Sans Medm</vt:lpstr>
      <vt:lpstr>IBM presentation template</vt:lpstr>
      <vt:lpstr>68/84/132pt title,  5 lines maximum,  sentence case </vt:lpstr>
      <vt:lpstr>68/84/132pt title,  5 lines maximum,  sentence case</vt:lpstr>
      <vt:lpstr>68/84/132pt title,  5 lines maximum,  sentence case</vt:lpstr>
      <vt:lpstr>68/84/132pt title,  5 lines maximum,  sentence case</vt:lpstr>
      <vt:lpstr>Contents</vt:lpstr>
      <vt:lpstr>68/84pt section divider, 2 lines maximum</vt:lpstr>
      <vt:lpstr>168pt Go  simple and big  if possible</vt:lpstr>
      <vt:lpstr>36/42/68/84pt headline,  3 lines maximum,  sentence case</vt:lpstr>
      <vt:lpstr>PowerPoint Presentation</vt:lpstr>
      <vt:lpstr>PowerPoint Presentation</vt:lpstr>
      <vt:lpstr>28/36/42pt headline,  5 lines maximum, sentence case</vt:lpstr>
      <vt:lpstr>28/36/42pt headline,  5 lines maximum, sentence case</vt:lpstr>
      <vt:lpstr>+000M</vt:lpstr>
      <vt:lpstr>28/36/42pt headline,  5 lines maximum, sentence case</vt:lpstr>
      <vt:lpstr>28/36/42pt headline, 3 lines maximum, sentence case</vt:lpstr>
      <vt:lpstr>28/36/42pt headline, 3 lines maximum, sentence case</vt:lpstr>
      <vt:lpstr>28/36/42pt headline, 5 lines maximum, sentence case</vt:lpstr>
      <vt:lpstr>28/36/42pt headline, 3 lines maximum, sentence case</vt:lpstr>
      <vt:lpstr>28/36/42pt headline, 5 lines maximum, sentence case</vt:lpstr>
      <vt:lpstr>42/68pt</vt:lpstr>
      <vt:lpstr>42/68pt</vt:lpstr>
      <vt:lpstr>28/36/42pt headline, 3 lines maximum,  sentence case</vt:lpstr>
      <vt:lpstr>68/84pt headline, 3 lines maximum, sentence case</vt:lpstr>
      <vt:lpstr>68/84pt headline, 3 lines maximum, sentence case</vt:lpstr>
      <vt:lpstr>68/84pt headline, 3 lines maximum, sentence case</vt:lpstr>
      <vt:lpstr>42/68pt </vt:lpstr>
      <vt:lpstr>PowerPoint Presentation</vt:lpstr>
      <vt:lpstr>28/36/42pt headline,  5 lines maximum,  sentence case</vt:lpstr>
      <vt:lpstr>28/36/42pt headline,  5 lines maximum, sentence case</vt:lpstr>
      <vt:lpstr>68/84pt headline, 3 lines maximum, sentence case</vt:lpstr>
      <vt:lpstr>68/84pt headline, 3 lines maximum, sentence case</vt:lpstr>
      <vt:lpstr>PowerPoint Presentation</vt:lpstr>
      <vt:lpstr>PowerPoint Presentation</vt:lpstr>
      <vt:lpstr>68/84pt headline, 3 lines maximum, sentence case</vt:lpstr>
      <vt:lpstr>68/84pt headline, 3 lines maximum, sentence case</vt:lpstr>
      <vt:lpstr>28/36/42pt headline, 5 lines maximum, sentence case</vt:lpstr>
      <vt:lpstr>28/36/42pt headline, 5 lines maximum, sentence case</vt:lpstr>
      <vt:lpstr>68/84pt headline</vt:lpstr>
      <vt:lpstr>28/36/42pt headline,  3 lines maximum, sentence case</vt:lpstr>
      <vt:lpstr>28/36/42pt headline, 3 lines maximum, sentence case</vt:lpstr>
      <vt:lpstr>28/36/42pt headline, 3 lines maximum, sentence case</vt:lpstr>
      <vt:lpstr>28/36/42pt headline, 3 lines maximum, sentence case</vt:lpstr>
      <vt:lpstr>PowerPoint Presentation</vt:lpstr>
      <vt:lpstr>PowerPoint Presentation</vt:lpstr>
      <vt:lpstr>28/36/42pt headline, 2 lines maximum, sentence case </vt:lpstr>
      <vt:lpstr>28/36/42pt headline, 5 lines maximum, sentence case </vt:lpstr>
      <vt:lpstr>28/36/42pt headline, 5 lines maximum, sentence case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Diana Stanciulescu</dc:creator>
  <cp:keywords/>
  <dc:description/>
  <cp:lastModifiedBy>Andy Erskine</cp:lastModifiedBy>
  <cp:revision>32</cp:revision>
  <cp:lastPrinted>2019-04-25T15:14:05Z</cp:lastPrinted>
  <dcterms:created xsi:type="dcterms:W3CDTF">2024-10-31T09:55:46Z</dcterms:created>
  <dcterms:modified xsi:type="dcterms:W3CDTF">2026-07-08T21:06:00Z</dcterms:modified>
  <cp:category/>
</cp:coreProperties>
</file>